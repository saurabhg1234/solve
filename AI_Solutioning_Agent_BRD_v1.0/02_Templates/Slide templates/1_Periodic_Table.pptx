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51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AF32E0-8DEC-4194-86CD-F074EBB644AD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E5D81E-045F-49E3-BCDB-D4EF40095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691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2A3E4-C99A-AC79-641F-FA9CFA7D6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731C4E-2719-87EA-51BE-EE25D1649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A0E0A-4266-5C17-0898-AF366E152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81627-2DFF-4204-9DF4-26BD420C24BB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475EA-3C7D-D603-40BD-3CB2C9A36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A4236-C86F-13B6-0D30-B82E94C0D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F9E67-26B5-4A50-996A-1A2CD1387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195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CEB68-42B1-3DD1-CD37-7F4AAC544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E274C-678F-CA66-50AA-47C43CC82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BF78C-D017-D5B9-17A8-EB2B3EFFF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81627-2DFF-4204-9DF4-26BD420C24BB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86F89-BB86-87A8-CC2E-0C7D9C85C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E2A20-B640-4BC4-5517-7B80BE244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F9E67-26B5-4A50-996A-1A2CD1387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77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9EA5A-0E3A-2CF5-A13F-AC84623D8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95048-5089-13AC-4ABF-5BE52C93E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FC7BE-9DB7-9AB6-3405-877937A35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81627-2DFF-4204-9DF4-26BD420C24BB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38A7B-8A60-6D63-7F09-862D39F39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215A1-1D24-2584-C0B7-D104CB82C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F9E67-26B5-4A50-996A-1A2CD1387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175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F389D-8FF3-9656-CC9E-B594D65CF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3D9F0-7721-A65A-D44C-769145A5C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F4F33-3612-E268-819F-2A2D8CD2C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DD145-054A-A65D-E6A1-7B4CE1E00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81627-2DFF-4204-9DF4-26BD420C24BB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949D6A-2367-2873-D4F1-7870B60F2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63A6D6-9BAA-8582-A1F8-1E05D8930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F9E67-26B5-4A50-996A-1A2CD1387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714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A3EC7-A9D7-5A87-9E43-1233E315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C4DB3-7488-8548-B405-2D3684790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1410F-2CB9-DBDB-EED4-B49C9FF29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DAEEFB-3E45-29F2-9E13-83746F01C6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3772C8-40B3-E29A-E9A3-4D43E136F1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47DE69-9747-0F07-A2D7-CA3219AAE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81627-2DFF-4204-9DF4-26BD420C24BB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168FB9-CA18-781C-1012-A8F7EFDC5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7B8238-8B7F-5385-0B19-B815F8BA4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F9E67-26B5-4A50-996A-1A2CD1387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105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0FE18-38A0-6861-19B6-CD9DAD294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56CCAF-FE59-3F05-A6DE-DDC747DD2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81627-2DFF-4204-9DF4-26BD420C24BB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B6BD63-B646-938B-BDD9-506F8D705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E2AD1F-D73D-868C-B520-BAEBFA194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F9E67-26B5-4A50-996A-1A2CD1387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051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BD5960-D768-E373-9DA7-7B33C2BDE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81627-2DFF-4204-9DF4-26BD420C24BB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486C94-7C7E-8183-5B0F-CB198EEE4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A3C14-FB6C-0C5E-E100-1ACE41657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F9E67-26B5-4A50-996A-1A2CD1387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953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930FD-80B2-45AB-F8D6-FC080E8A9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3743C-8A45-1F10-536A-EB829D0AE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7528D6-583C-469E-0227-C0DE17568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5F64B-CC31-EC64-49E9-ED4F95BD5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81627-2DFF-4204-9DF4-26BD420C24BB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641A4-010F-869C-8553-699C3284E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10F466-35DF-10D6-688F-5B7F6CA5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F9E67-26B5-4A50-996A-1A2CD1387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768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6C472-B5DE-53FE-90C0-013EB0D61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C5F998-2A48-6354-AB7F-4267878FE7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F1E263-E83C-211F-9381-FC5CC48A58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C5476-1B7C-7F50-AB49-0FAB63E44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81627-2DFF-4204-9DF4-26BD420C24BB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8FC3A-C4CC-3DA3-4F61-E7461DABC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4D0F1-DE68-00E2-2F2D-79D0D4908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F9E67-26B5-4A50-996A-1A2CD1387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24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16F2D-0739-B0D0-6297-2E177E4AF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0CB312-C148-6019-E397-4A354C1EE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319C3-2607-F095-D143-92D97EC55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81627-2DFF-4204-9DF4-26BD420C24BB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99B82-9B19-63F2-10DD-61CA3CBE6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6DA69-F2F5-4E0E-0BF8-B63D19232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F9E67-26B5-4A50-996A-1A2CD1387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903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95E405-9F79-709A-CD88-2F09FA8CFD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ADDAA-D2FD-F3F8-0E89-64EB2BA6DC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21D15-7094-2480-846F-705C1BA43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81627-2DFF-4204-9DF4-26BD420C24BB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42613-F904-331C-EB3B-FC5B5D908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9D59D-4ADA-5B5E-DC3D-438B9506F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F9E67-26B5-4A50-996A-1A2CD1387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868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2151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1D7972-8E56-CE41-125B-6D4DE3215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8801F-A617-AD58-2865-89211B1A4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4B49A-CC93-C11A-99B9-90CE56A02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681627-2DFF-4204-9DF4-26BD420C24BB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9B896-2330-DC44-A608-13B37C6B77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F36C0-95BD-C93B-3854-2CBB9BB7E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2F9E67-26B5-4A50-996A-1A2CD1387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05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Strip"/>
          <p:cNvSpPr/>
          <p:nvPr/>
        </p:nvSpPr>
        <p:spPr>
          <a:xfrm>
            <a:off x="0" y="6300000"/>
            <a:ext cx="12192000" cy="5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" name="Tx3"/>
          <p:cNvSpPr/>
          <p:nvPr/>
        </p:nvSpPr>
        <p:spPr>
          <a:xfrm>
            <a:off x="256032" y="80000"/>
            <a:ext cx="11679936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 AgentVerse — BFSI Combined Periodic Table  |  Banking &amp; Lending · NBFC &amp; Fintech</a:t>
            </a:r>
            <a:endParaRPr lang="en-US" sz="700" dirty="0"/>
          </a:p>
        </p:txBody>
      </p:sp>
      <p:sp>
        <p:nvSpPr>
          <p:cNvPr id="9000" name="LgDot9000"/>
          <p:cNvSpPr/>
          <p:nvPr/>
        </p:nvSpPr>
        <p:spPr>
          <a:xfrm>
            <a:off x="146304" y="518000"/>
            <a:ext cx="100000" cy="1000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01" name="LgTx9001"/>
          <p:cNvSpPr/>
          <p:nvPr/>
        </p:nvSpPr>
        <p:spPr>
          <a:xfrm>
            <a:off x="264304" y="500000"/>
            <a:ext cx="1256924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Risk</a:t>
            </a:r>
            <a:endParaRPr lang="en-US" sz="700" dirty="0"/>
          </a:p>
        </p:txBody>
      </p:sp>
      <p:sp>
        <p:nvSpPr>
          <p:cNvPr id="9002" name="LgDot9002"/>
          <p:cNvSpPr/>
          <p:nvPr/>
        </p:nvSpPr>
        <p:spPr>
          <a:xfrm>
            <a:off x="1521228" y="518000"/>
            <a:ext cx="100000" cy="100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03" name="LgTx9003"/>
          <p:cNvSpPr/>
          <p:nvPr/>
        </p:nvSpPr>
        <p:spPr>
          <a:xfrm>
            <a:off x="1639228" y="500000"/>
            <a:ext cx="1256924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700" dirty="0"/>
          </a:p>
        </p:txBody>
      </p:sp>
      <p:sp>
        <p:nvSpPr>
          <p:cNvPr id="9004" name="LgDot9004"/>
          <p:cNvSpPr/>
          <p:nvPr/>
        </p:nvSpPr>
        <p:spPr>
          <a:xfrm>
            <a:off x="2896152" y="518000"/>
            <a:ext cx="100000" cy="100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05" name="LgTx9005"/>
          <p:cNvSpPr/>
          <p:nvPr/>
        </p:nvSpPr>
        <p:spPr>
          <a:xfrm>
            <a:off x="3014152" y="500000"/>
            <a:ext cx="1256924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700" dirty="0"/>
          </a:p>
        </p:txBody>
      </p:sp>
      <p:sp>
        <p:nvSpPr>
          <p:cNvPr id="9006" name="LgDot9006"/>
          <p:cNvSpPr/>
          <p:nvPr/>
        </p:nvSpPr>
        <p:spPr>
          <a:xfrm>
            <a:off x="4271076" y="518000"/>
            <a:ext cx="100000" cy="100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07" name="LgTx9007"/>
          <p:cNvSpPr/>
          <p:nvPr/>
        </p:nvSpPr>
        <p:spPr>
          <a:xfrm>
            <a:off x="4389076" y="500000"/>
            <a:ext cx="1256924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&amp; Trade</a:t>
            </a:r>
            <a:endParaRPr lang="en-US" sz="700" dirty="0"/>
          </a:p>
        </p:txBody>
      </p:sp>
      <p:sp>
        <p:nvSpPr>
          <p:cNvPr id="9008" name="LgDot9008"/>
          <p:cNvSpPr/>
          <p:nvPr/>
        </p:nvSpPr>
        <p:spPr>
          <a:xfrm>
            <a:off x="5646000" y="518000"/>
            <a:ext cx="100000" cy="10000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09" name="LgTx9009"/>
          <p:cNvSpPr/>
          <p:nvPr/>
        </p:nvSpPr>
        <p:spPr>
          <a:xfrm>
            <a:off x="5764000" y="500000"/>
            <a:ext cx="1256924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(NBFC)</a:t>
            </a:r>
            <a:endParaRPr lang="en-US" sz="700" dirty="0"/>
          </a:p>
        </p:txBody>
      </p:sp>
      <p:sp>
        <p:nvSpPr>
          <p:cNvPr id="9010" name="LgDot9010"/>
          <p:cNvSpPr/>
          <p:nvPr/>
        </p:nvSpPr>
        <p:spPr>
          <a:xfrm>
            <a:off x="7020924" y="518000"/>
            <a:ext cx="100000" cy="1000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11" name="LgTx9011"/>
          <p:cNvSpPr/>
          <p:nvPr/>
        </p:nvSpPr>
        <p:spPr>
          <a:xfrm>
            <a:off x="7138924" y="500000"/>
            <a:ext cx="1256924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(NBFC)</a:t>
            </a:r>
            <a:endParaRPr lang="en-US" sz="700" dirty="0"/>
          </a:p>
        </p:txBody>
      </p:sp>
      <p:sp>
        <p:nvSpPr>
          <p:cNvPr id="9012" name="LgDot9012"/>
          <p:cNvSpPr/>
          <p:nvPr/>
        </p:nvSpPr>
        <p:spPr>
          <a:xfrm>
            <a:off x="8395848" y="518000"/>
            <a:ext cx="100000" cy="100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13" name="LgTx9013"/>
          <p:cNvSpPr/>
          <p:nvPr/>
        </p:nvSpPr>
        <p:spPr>
          <a:xfrm>
            <a:off x="8513848" y="500000"/>
            <a:ext cx="1256924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700" dirty="0"/>
          </a:p>
        </p:txBody>
      </p:sp>
      <p:sp>
        <p:nvSpPr>
          <p:cNvPr id="9014" name="LgDot9014"/>
          <p:cNvSpPr/>
          <p:nvPr/>
        </p:nvSpPr>
        <p:spPr>
          <a:xfrm>
            <a:off x="9770772" y="518000"/>
            <a:ext cx="100000" cy="10000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15" name="LgTx9015"/>
          <p:cNvSpPr/>
          <p:nvPr/>
        </p:nvSpPr>
        <p:spPr>
          <a:xfrm>
            <a:off x="9888772" y="500000"/>
            <a:ext cx="1256924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700" dirty="0"/>
          </a:p>
        </p:txBody>
      </p:sp>
      <p:sp>
        <p:nvSpPr>
          <p:cNvPr id="9016" name="LgStar9016"/>
          <p:cNvSpPr/>
          <p:nvPr/>
        </p:nvSpPr>
        <p:spPr>
          <a:xfrm>
            <a:off x="11145696" y="500000"/>
            <a:ext cx="90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Featured</a:t>
            </a:r>
            <a:endParaRPr lang="en-US" sz="700" dirty="0"/>
          </a:p>
        </p:txBody>
      </p:sp>
      <p:sp>
        <p:nvSpPr>
          <p:cNvPr id="22" name="Sh22"/>
          <p:cNvSpPr/>
          <p:nvPr/>
        </p:nvSpPr>
        <p:spPr>
          <a:xfrm>
            <a:off x="146304" y="660000"/>
            <a:ext cx="5940552" cy="210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x23"/>
          <p:cNvSpPr/>
          <p:nvPr/>
        </p:nvSpPr>
        <p:spPr>
          <a:xfrm>
            <a:off x="146304" y="660000"/>
            <a:ext cx="5940552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LENDING  |  18 Agents</a:t>
            </a:r>
            <a:endParaRPr lang="en-US" sz="700" dirty="0"/>
          </a:p>
        </p:txBody>
      </p:sp>
      <p:sp>
        <p:nvSpPr>
          <p:cNvPr id="24" name="Sh24"/>
          <p:cNvSpPr/>
          <p:nvPr/>
        </p:nvSpPr>
        <p:spPr>
          <a:xfrm>
            <a:off x="6105144" y="660000"/>
            <a:ext cx="5940552" cy="2100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x25"/>
          <p:cNvSpPr/>
          <p:nvPr/>
        </p:nvSpPr>
        <p:spPr>
          <a:xfrm>
            <a:off x="6105144" y="660000"/>
            <a:ext cx="5940552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NBFC &amp; FINTECH  |  18 Agents</a:t>
            </a:r>
            <a:endParaRPr lang="en-US" sz="700" dirty="0"/>
          </a:p>
        </p:txBody>
      </p:sp>
      <p:sp>
        <p:nvSpPr>
          <p:cNvPr id="26" name="Sh26"/>
          <p:cNvSpPr/>
          <p:nvPr/>
        </p:nvSpPr>
        <p:spPr>
          <a:xfrm>
            <a:off x="146304" y="890000"/>
            <a:ext cx="1310865" cy="1342770"/>
          </a:xfrm>
          <a:prstGeom prst="rect">
            <a:avLst/>
          </a:prstGeom>
          <a:solidFill>
            <a:srgbClr val="E0E7FF"/>
          </a:solidFill>
          <a:ln w="12700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x27"/>
          <p:cNvSpPr/>
          <p:nvPr/>
        </p:nvSpPr>
        <p:spPr>
          <a:xfrm>
            <a:off x="220032" y="93500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B01</a:t>
            </a:r>
            <a:endParaRPr lang="en-US" sz="700" dirty="0"/>
          </a:p>
        </p:txBody>
      </p:sp>
      <p:sp>
        <p:nvSpPr>
          <p:cNvPr id="28" name="Tx28"/>
          <p:cNvSpPr/>
          <p:nvPr/>
        </p:nvSpPr>
        <p:spPr>
          <a:xfrm>
            <a:off x="1307169" y="93000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700" dirty="0"/>
          </a:p>
        </p:txBody>
      </p:sp>
      <p:sp>
        <p:nvSpPr>
          <p:cNvPr id="29" name="Tx29"/>
          <p:cNvSpPr/>
          <p:nvPr/>
        </p:nvSpPr>
        <p:spPr>
          <a:xfrm>
            <a:off x="220032" y="105000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700" dirty="0"/>
          </a:p>
        </p:txBody>
      </p:sp>
      <p:sp>
        <p:nvSpPr>
          <p:cNvPr id="30" name="Tx30"/>
          <p:cNvSpPr/>
          <p:nvPr/>
        </p:nvSpPr>
        <p:spPr>
          <a:xfrm>
            <a:off x="220032" y="134500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Verifier</a:t>
            </a:r>
            <a:endParaRPr lang="en-US" sz="700" dirty="0"/>
          </a:p>
        </p:txBody>
      </p:sp>
      <p:sp>
        <p:nvSpPr>
          <p:cNvPr id="31" name="Sh31"/>
          <p:cNvSpPr/>
          <p:nvPr/>
        </p:nvSpPr>
        <p:spPr>
          <a:xfrm>
            <a:off x="220032" y="1575000"/>
            <a:ext cx="1163409" cy="0"/>
          </a:xfrm>
          <a:prstGeom prst="line">
            <a:avLst/>
          </a:prstGeom>
          <a:noFill/>
          <a:ln w="9525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x32"/>
          <p:cNvSpPr/>
          <p:nvPr/>
        </p:nvSpPr>
        <p:spPr>
          <a:xfrm>
            <a:off x="220032" y="159000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customer identity end-to-end — runs document OCR, liveness check, PEP/sanctions screening &amp; digital signature verification; cuts onboarding time from 3 days to under 30 minutes</a:t>
            </a:r>
            <a:endParaRPr lang="en-US" sz="700" dirty="0"/>
          </a:p>
        </p:txBody>
      </p:sp>
      <p:sp>
        <p:nvSpPr>
          <p:cNvPr id="33" name="Sh33"/>
          <p:cNvSpPr/>
          <p:nvPr/>
        </p:nvSpPr>
        <p:spPr>
          <a:xfrm>
            <a:off x="1469869" y="890000"/>
            <a:ext cx="1310865" cy="1342770"/>
          </a:xfrm>
          <a:prstGeom prst="rect">
            <a:avLst/>
          </a:prstGeom>
          <a:solidFill>
            <a:srgbClr val="E0E7FF"/>
          </a:solidFill>
          <a:ln w="12700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x34"/>
          <p:cNvSpPr/>
          <p:nvPr/>
        </p:nvSpPr>
        <p:spPr>
          <a:xfrm>
            <a:off x="1543597" y="93500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B02</a:t>
            </a:r>
            <a:endParaRPr lang="en-US" sz="700" dirty="0"/>
          </a:p>
        </p:txBody>
      </p:sp>
      <p:sp>
        <p:nvSpPr>
          <p:cNvPr id="35" name="Tx35"/>
          <p:cNvSpPr/>
          <p:nvPr/>
        </p:nvSpPr>
        <p:spPr>
          <a:xfrm>
            <a:off x="2630734" y="93000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700" dirty="0"/>
          </a:p>
        </p:txBody>
      </p:sp>
      <p:sp>
        <p:nvSpPr>
          <p:cNvPr id="36" name="Tx36"/>
          <p:cNvSpPr/>
          <p:nvPr/>
        </p:nvSpPr>
        <p:spPr>
          <a:xfrm>
            <a:off x="1543597" y="105000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700" dirty="0"/>
          </a:p>
        </p:txBody>
      </p:sp>
      <p:sp>
        <p:nvSpPr>
          <p:cNvPr id="37" name="Tx37"/>
          <p:cNvSpPr/>
          <p:nvPr/>
        </p:nvSpPr>
        <p:spPr>
          <a:xfrm>
            <a:off x="1543597" y="134500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Screener</a:t>
            </a:r>
            <a:endParaRPr lang="en-US" sz="700" dirty="0"/>
          </a:p>
        </p:txBody>
      </p:sp>
      <p:sp>
        <p:nvSpPr>
          <p:cNvPr id="38" name="Sh38"/>
          <p:cNvSpPr/>
          <p:nvPr/>
        </p:nvSpPr>
        <p:spPr>
          <a:xfrm>
            <a:off x="1543597" y="1575000"/>
            <a:ext cx="1163409" cy="0"/>
          </a:xfrm>
          <a:prstGeom prst="line">
            <a:avLst/>
          </a:prstGeom>
          <a:noFill/>
          <a:ln w="9525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x39"/>
          <p:cNvSpPr/>
          <p:nvPr/>
        </p:nvSpPr>
        <p:spPr>
          <a:xfrm>
            <a:off x="1543597" y="159000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transaction monitoring against FATF typologies — cross-references STR patterns, correspondent banking risk &amp; customer risk ratings; flags suspicious activity with SAR draft in minutes</a:t>
            </a:r>
            <a:endParaRPr lang="en-US" sz="700" dirty="0"/>
          </a:p>
        </p:txBody>
      </p:sp>
      <p:sp>
        <p:nvSpPr>
          <p:cNvPr id="40" name="Sh40"/>
          <p:cNvSpPr/>
          <p:nvPr/>
        </p:nvSpPr>
        <p:spPr>
          <a:xfrm>
            <a:off x="2793434" y="890000"/>
            <a:ext cx="1310865" cy="1342770"/>
          </a:xfrm>
          <a:prstGeom prst="rect">
            <a:avLst/>
          </a:prstGeom>
          <a:solidFill>
            <a:srgbClr val="E0E7FF"/>
          </a:solidFill>
          <a:ln w="12700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x41"/>
          <p:cNvSpPr/>
          <p:nvPr/>
        </p:nvSpPr>
        <p:spPr>
          <a:xfrm>
            <a:off x="2867162" y="93500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B03</a:t>
            </a:r>
            <a:endParaRPr lang="en-US" sz="700" dirty="0"/>
          </a:p>
        </p:txBody>
      </p:sp>
      <p:sp>
        <p:nvSpPr>
          <p:cNvPr id="42" name="Tx42"/>
          <p:cNvSpPr/>
          <p:nvPr/>
        </p:nvSpPr>
        <p:spPr>
          <a:xfrm>
            <a:off x="3954299" y="93000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700" dirty="0"/>
          </a:p>
        </p:txBody>
      </p:sp>
      <p:sp>
        <p:nvSpPr>
          <p:cNvPr id="43" name="Tx43"/>
          <p:cNvSpPr/>
          <p:nvPr/>
        </p:nvSpPr>
        <p:spPr>
          <a:xfrm>
            <a:off x="2867162" y="105000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</a:t>
            </a:r>
            <a:endParaRPr lang="en-US" sz="700" dirty="0"/>
          </a:p>
        </p:txBody>
      </p:sp>
      <p:sp>
        <p:nvSpPr>
          <p:cNvPr id="44" name="Tx44"/>
          <p:cNvSpPr/>
          <p:nvPr/>
        </p:nvSpPr>
        <p:spPr>
          <a:xfrm>
            <a:off x="2867162" y="134500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Detector</a:t>
            </a:r>
            <a:endParaRPr lang="en-US" sz="700" dirty="0"/>
          </a:p>
        </p:txBody>
      </p:sp>
      <p:sp>
        <p:nvSpPr>
          <p:cNvPr id="45" name="Sh45"/>
          <p:cNvSpPr/>
          <p:nvPr/>
        </p:nvSpPr>
        <p:spPr>
          <a:xfrm>
            <a:off x="2867162" y="1575000"/>
            <a:ext cx="1163409" cy="0"/>
          </a:xfrm>
          <a:prstGeom prst="line">
            <a:avLst/>
          </a:prstGeom>
          <a:noFill/>
          <a:ln w="9525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x46"/>
          <p:cNvSpPr/>
          <p:nvPr/>
        </p:nvSpPr>
        <p:spPr>
          <a:xfrm>
            <a:off x="2867162" y="159000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fraud detection across cards, UPI &amp; NEFT — device fingerprinting, behavioural biometrics &amp; graph-network analysis; reduces false positives by 40% while catching 95%+ of fraud</a:t>
            </a:r>
            <a:endParaRPr lang="en-US" sz="700" dirty="0"/>
          </a:p>
        </p:txBody>
      </p:sp>
      <p:sp>
        <p:nvSpPr>
          <p:cNvPr id="47" name="Sh47"/>
          <p:cNvSpPr/>
          <p:nvPr/>
        </p:nvSpPr>
        <p:spPr>
          <a:xfrm>
            <a:off x="4116999" y="890000"/>
            <a:ext cx="1310865" cy="1342770"/>
          </a:xfrm>
          <a:prstGeom prst="rect">
            <a:avLst/>
          </a:prstGeom>
          <a:solidFill>
            <a:srgbClr val="E0E7FF"/>
          </a:solidFill>
          <a:ln w="12700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x48"/>
          <p:cNvSpPr/>
          <p:nvPr/>
        </p:nvSpPr>
        <p:spPr>
          <a:xfrm>
            <a:off x="4190727" y="93500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B04</a:t>
            </a:r>
            <a:endParaRPr lang="en-US" sz="700" dirty="0"/>
          </a:p>
        </p:txBody>
      </p:sp>
      <p:sp>
        <p:nvSpPr>
          <p:cNvPr id="49" name="Tx49"/>
          <p:cNvSpPr/>
          <p:nvPr/>
        </p:nvSpPr>
        <p:spPr>
          <a:xfrm>
            <a:off x="5277864" y="93000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sp>
        <p:nvSpPr>
          <p:cNvPr id="50" name="Tx50"/>
          <p:cNvSpPr/>
          <p:nvPr/>
        </p:nvSpPr>
        <p:spPr>
          <a:xfrm>
            <a:off x="4190727" y="105000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</a:t>
            </a:r>
            <a:endParaRPr lang="en-US" sz="700" dirty="0"/>
          </a:p>
        </p:txBody>
      </p:sp>
      <p:sp>
        <p:nvSpPr>
          <p:cNvPr id="51" name="Tx51"/>
          <p:cNvSpPr/>
          <p:nvPr/>
        </p:nvSpPr>
        <p:spPr>
          <a:xfrm>
            <a:off x="4190727" y="134500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Reporter</a:t>
            </a:r>
            <a:endParaRPr lang="en-US" sz="700" dirty="0"/>
          </a:p>
        </p:txBody>
      </p:sp>
      <p:sp>
        <p:nvSpPr>
          <p:cNvPr id="52" name="Sh52"/>
          <p:cNvSpPr/>
          <p:nvPr/>
        </p:nvSpPr>
        <p:spPr>
          <a:xfrm>
            <a:off x="4190727" y="1575000"/>
            <a:ext cx="1163409" cy="0"/>
          </a:xfrm>
          <a:prstGeom prst="line">
            <a:avLst/>
          </a:prstGeom>
          <a:noFill/>
          <a:ln w="9525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x53"/>
          <p:cNvSpPr/>
          <p:nvPr/>
        </p:nvSpPr>
        <p:spPr>
          <a:xfrm>
            <a:off x="4190727" y="159000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statutory reporting to RBI, SEBI &amp; IRDAI — compiles DSB, XBRL &amp; CTR formats from core banking data; eliminates manual compilation &amp; tracks submission deadlines across all regulators</a:t>
            </a:r>
            <a:endParaRPr lang="en-US" sz="700" dirty="0"/>
          </a:p>
        </p:txBody>
      </p:sp>
      <p:sp>
        <p:nvSpPr>
          <p:cNvPr id="54" name="Sh54"/>
          <p:cNvSpPr/>
          <p:nvPr/>
        </p:nvSpPr>
        <p:spPr>
          <a:xfrm>
            <a:off x="5440564" y="890000"/>
            <a:ext cx="1310865" cy="1342770"/>
          </a:xfrm>
          <a:prstGeom prst="rect">
            <a:avLst/>
          </a:prstGeom>
          <a:solidFill>
            <a:srgbClr val="E0E7FF"/>
          </a:solidFill>
          <a:ln w="12700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x55"/>
          <p:cNvSpPr/>
          <p:nvPr/>
        </p:nvSpPr>
        <p:spPr>
          <a:xfrm>
            <a:off x="5514292" y="93500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B05</a:t>
            </a:r>
            <a:endParaRPr lang="en-US" sz="700" dirty="0"/>
          </a:p>
        </p:txBody>
      </p:sp>
      <p:sp>
        <p:nvSpPr>
          <p:cNvPr id="56" name="Tx56"/>
          <p:cNvSpPr/>
          <p:nvPr/>
        </p:nvSpPr>
        <p:spPr>
          <a:xfrm>
            <a:off x="6601429" y="93000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sp>
        <p:nvSpPr>
          <p:cNvPr id="57" name="Tx57"/>
          <p:cNvSpPr/>
          <p:nvPr/>
        </p:nvSpPr>
        <p:spPr>
          <a:xfrm>
            <a:off x="5514292" y="105000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700" dirty="0"/>
          </a:p>
        </p:txBody>
      </p:sp>
      <p:sp>
        <p:nvSpPr>
          <p:cNvPr id="58" name="Tx58"/>
          <p:cNvSpPr/>
          <p:nvPr/>
        </p:nvSpPr>
        <p:spPr>
          <a:xfrm>
            <a:off x="5514292" y="134500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Analyst</a:t>
            </a:r>
            <a:endParaRPr lang="en-US" sz="700" dirty="0"/>
          </a:p>
        </p:txBody>
      </p:sp>
      <p:sp>
        <p:nvSpPr>
          <p:cNvPr id="59" name="Sh59"/>
          <p:cNvSpPr/>
          <p:nvPr/>
        </p:nvSpPr>
        <p:spPr>
          <a:xfrm>
            <a:off x="5514292" y="1575000"/>
            <a:ext cx="1163409" cy="0"/>
          </a:xfrm>
          <a:prstGeom prst="line">
            <a:avLst/>
          </a:prstGeom>
          <a:noFill/>
          <a:ln w="9525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x60"/>
          <p:cNvSpPr/>
          <p:nvPr/>
        </p:nvSpPr>
        <p:spPr>
          <a:xfrm>
            <a:off x="5514292" y="159000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control monitoring across GL, treasury &amp; lending portfolios — flags policy exceptions, reconciliation gaps &amp; audit trail breaks; cuts internal audit cycle from 6 weeks to 10 days</a:t>
            </a:r>
            <a:endParaRPr lang="en-US" sz="700" dirty="0"/>
          </a:p>
        </p:txBody>
      </p:sp>
      <p:sp>
        <p:nvSpPr>
          <p:cNvPr id="61" name="Sh61"/>
          <p:cNvSpPr/>
          <p:nvPr/>
        </p:nvSpPr>
        <p:spPr>
          <a:xfrm>
            <a:off x="6764129" y="890000"/>
            <a:ext cx="1310865" cy="134277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x62"/>
          <p:cNvSpPr/>
          <p:nvPr/>
        </p:nvSpPr>
        <p:spPr>
          <a:xfrm>
            <a:off x="6837857" y="93500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B06</a:t>
            </a:r>
            <a:endParaRPr lang="en-US" sz="700" dirty="0"/>
          </a:p>
        </p:txBody>
      </p:sp>
      <p:sp>
        <p:nvSpPr>
          <p:cNvPr id="63" name="Tx63"/>
          <p:cNvSpPr/>
          <p:nvPr/>
        </p:nvSpPr>
        <p:spPr>
          <a:xfrm>
            <a:off x="7924994" y="93000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sp>
        <p:nvSpPr>
          <p:cNvPr id="64" name="Tx64"/>
          <p:cNvSpPr/>
          <p:nvPr/>
        </p:nvSpPr>
        <p:spPr>
          <a:xfrm>
            <a:off x="6837857" y="105000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</a:t>
            </a:r>
            <a:endParaRPr lang="en-US" sz="700" dirty="0"/>
          </a:p>
        </p:txBody>
      </p:sp>
      <p:sp>
        <p:nvSpPr>
          <p:cNvPr id="65" name="Tx65"/>
          <p:cNvSpPr/>
          <p:nvPr/>
        </p:nvSpPr>
        <p:spPr>
          <a:xfrm>
            <a:off x="6837857" y="134500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Opening Bot</a:t>
            </a:r>
            <a:endParaRPr lang="en-US" sz="700" dirty="0"/>
          </a:p>
        </p:txBody>
      </p:sp>
      <p:sp>
        <p:nvSpPr>
          <p:cNvPr id="66" name="Sh66"/>
          <p:cNvSpPr/>
          <p:nvPr/>
        </p:nvSpPr>
        <p:spPr>
          <a:xfrm>
            <a:off x="6837857" y="1575000"/>
            <a:ext cx="1163409" cy="0"/>
          </a:xfrm>
          <a:prstGeom prst="line">
            <a:avLst/>
          </a:prstGeom>
          <a:noFill/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x67"/>
          <p:cNvSpPr/>
          <p:nvPr/>
        </p:nvSpPr>
        <p:spPr>
          <a:xfrm>
            <a:off x="6837857" y="159000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digital account opening — pre-fills from Aadhaar/PAN APIs, routes for approval, triggers debit card issuance &amp; welcome kit; 85% of applications processed without branch intervention</a:t>
            </a:r>
            <a:endParaRPr lang="en-US" sz="700" dirty="0"/>
          </a:p>
        </p:txBody>
      </p:sp>
      <p:sp>
        <p:nvSpPr>
          <p:cNvPr id="68" name="Sh68"/>
          <p:cNvSpPr/>
          <p:nvPr/>
        </p:nvSpPr>
        <p:spPr>
          <a:xfrm>
            <a:off x="8087694" y="890000"/>
            <a:ext cx="1310865" cy="134277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x69"/>
          <p:cNvSpPr/>
          <p:nvPr/>
        </p:nvSpPr>
        <p:spPr>
          <a:xfrm>
            <a:off x="8161422" y="93500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B07</a:t>
            </a:r>
            <a:endParaRPr lang="en-US" sz="700" dirty="0"/>
          </a:p>
        </p:txBody>
      </p:sp>
      <p:sp>
        <p:nvSpPr>
          <p:cNvPr id="70" name="Tx70"/>
          <p:cNvSpPr/>
          <p:nvPr/>
        </p:nvSpPr>
        <p:spPr>
          <a:xfrm>
            <a:off x="9248559" y="93000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700" dirty="0"/>
          </a:p>
        </p:txBody>
      </p:sp>
      <p:sp>
        <p:nvSpPr>
          <p:cNvPr id="71" name="Tx71"/>
          <p:cNvSpPr/>
          <p:nvPr/>
        </p:nvSpPr>
        <p:spPr>
          <a:xfrm>
            <a:off x="8161422" y="105000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</a:t>
            </a:r>
            <a:endParaRPr lang="en-US" sz="700" dirty="0"/>
          </a:p>
        </p:txBody>
      </p:sp>
      <p:sp>
        <p:nvSpPr>
          <p:cNvPr id="72" name="Tx72"/>
          <p:cNvSpPr/>
          <p:nvPr/>
        </p:nvSpPr>
        <p:spPr>
          <a:xfrm>
            <a:off x="8161422" y="134500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Underwriter</a:t>
            </a:r>
            <a:endParaRPr lang="en-US" sz="700" dirty="0"/>
          </a:p>
        </p:txBody>
      </p:sp>
      <p:sp>
        <p:nvSpPr>
          <p:cNvPr id="73" name="Sh73"/>
          <p:cNvSpPr/>
          <p:nvPr/>
        </p:nvSpPr>
        <p:spPr>
          <a:xfrm>
            <a:off x="8161422" y="1575000"/>
            <a:ext cx="1163409" cy="0"/>
          </a:xfrm>
          <a:prstGeom prst="line">
            <a:avLst/>
          </a:prstGeom>
          <a:noFill/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x74"/>
          <p:cNvSpPr/>
          <p:nvPr/>
        </p:nvSpPr>
        <p:spPr>
          <a:xfrm>
            <a:off x="8161422" y="159000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underwriting for retail &amp; SME loans — ingests bureau data, bank statements &amp; GST returns to produce credit memo with recommendation; reduces decision TAT from 5 days to under 4 hours</a:t>
            </a:r>
            <a:endParaRPr lang="en-US" sz="700" dirty="0"/>
          </a:p>
        </p:txBody>
      </p:sp>
      <p:sp>
        <p:nvSpPr>
          <p:cNvPr id="75" name="Sh75"/>
          <p:cNvSpPr/>
          <p:nvPr/>
        </p:nvSpPr>
        <p:spPr>
          <a:xfrm>
            <a:off x="9411259" y="890000"/>
            <a:ext cx="1310865" cy="134277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x76"/>
          <p:cNvSpPr/>
          <p:nvPr/>
        </p:nvSpPr>
        <p:spPr>
          <a:xfrm>
            <a:off x="9484987" y="93500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B08</a:t>
            </a:r>
            <a:endParaRPr lang="en-US" sz="700" dirty="0"/>
          </a:p>
        </p:txBody>
      </p:sp>
      <p:sp>
        <p:nvSpPr>
          <p:cNvPr id="77" name="Tx77"/>
          <p:cNvSpPr/>
          <p:nvPr/>
        </p:nvSpPr>
        <p:spPr>
          <a:xfrm>
            <a:off x="10572124" y="93000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700" dirty="0"/>
          </a:p>
        </p:txBody>
      </p:sp>
      <p:sp>
        <p:nvSpPr>
          <p:cNvPr id="78" name="Tx78"/>
          <p:cNvSpPr/>
          <p:nvPr/>
        </p:nvSpPr>
        <p:spPr>
          <a:xfrm>
            <a:off x="9484987" y="105000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700" dirty="0"/>
          </a:p>
        </p:txBody>
      </p:sp>
      <p:sp>
        <p:nvSpPr>
          <p:cNvPr id="79" name="Tx79"/>
          <p:cNvSpPr/>
          <p:nvPr/>
        </p:nvSpPr>
        <p:spPr>
          <a:xfrm>
            <a:off x="9484987" y="134500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Scorer</a:t>
            </a:r>
            <a:endParaRPr lang="en-US" sz="700" dirty="0"/>
          </a:p>
        </p:txBody>
      </p:sp>
      <p:sp>
        <p:nvSpPr>
          <p:cNvPr id="80" name="Sh80"/>
          <p:cNvSpPr/>
          <p:nvPr/>
        </p:nvSpPr>
        <p:spPr>
          <a:xfrm>
            <a:off x="9484987" y="1575000"/>
            <a:ext cx="1163409" cy="0"/>
          </a:xfrm>
          <a:prstGeom prst="line">
            <a:avLst/>
          </a:prstGeom>
          <a:noFill/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x81"/>
          <p:cNvSpPr/>
          <p:nvPr/>
        </p:nvSpPr>
        <p:spPr>
          <a:xfrm>
            <a:off x="9484987" y="159000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credit scoring beyond bureau — analyses cash flow volatility, sector stress signals &amp; alternate data; recalibrates PD/LGD monthly; flags portfolio concentration risk before it breaches limits</a:t>
            </a:r>
            <a:endParaRPr lang="en-US" sz="700" dirty="0"/>
          </a:p>
        </p:txBody>
      </p:sp>
      <p:sp>
        <p:nvSpPr>
          <p:cNvPr id="82" name="Sh82"/>
          <p:cNvSpPr/>
          <p:nvPr/>
        </p:nvSpPr>
        <p:spPr>
          <a:xfrm>
            <a:off x="10734824" y="890000"/>
            <a:ext cx="1310865" cy="134277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x83"/>
          <p:cNvSpPr/>
          <p:nvPr/>
        </p:nvSpPr>
        <p:spPr>
          <a:xfrm>
            <a:off x="10808552" y="93500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B09</a:t>
            </a:r>
            <a:endParaRPr lang="en-US" sz="700" dirty="0"/>
          </a:p>
        </p:txBody>
      </p:sp>
      <p:sp>
        <p:nvSpPr>
          <p:cNvPr id="84" name="Tx84"/>
          <p:cNvSpPr/>
          <p:nvPr/>
        </p:nvSpPr>
        <p:spPr>
          <a:xfrm>
            <a:off x="11895689" y="93000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sp>
        <p:nvSpPr>
          <p:cNvPr id="85" name="Tx85"/>
          <p:cNvSpPr/>
          <p:nvPr/>
        </p:nvSpPr>
        <p:spPr>
          <a:xfrm>
            <a:off x="10808552" y="105000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700" dirty="0"/>
          </a:p>
        </p:txBody>
      </p:sp>
      <p:sp>
        <p:nvSpPr>
          <p:cNvPr id="86" name="Tx86"/>
          <p:cNvSpPr/>
          <p:nvPr/>
        </p:nvSpPr>
        <p:spPr>
          <a:xfrm>
            <a:off x="10808552" y="134500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Originator</a:t>
            </a:r>
            <a:endParaRPr lang="en-US" sz="700" dirty="0"/>
          </a:p>
        </p:txBody>
      </p:sp>
      <p:sp>
        <p:nvSpPr>
          <p:cNvPr id="87" name="Sh87"/>
          <p:cNvSpPr/>
          <p:nvPr/>
        </p:nvSpPr>
        <p:spPr>
          <a:xfrm>
            <a:off x="10808552" y="1575000"/>
            <a:ext cx="1163409" cy="0"/>
          </a:xfrm>
          <a:prstGeom prst="line">
            <a:avLst/>
          </a:prstGeom>
          <a:noFill/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x88"/>
          <p:cNvSpPr/>
          <p:nvPr/>
        </p:nvSpPr>
        <p:spPr>
          <a:xfrm>
            <a:off x="10808552" y="159000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end-to-end home loan processing — property valuation, legal title search, CERSAI check &amp; LTV computation; handles 90% of documentation without ops team intervention</a:t>
            </a:r>
            <a:endParaRPr lang="en-US" sz="700" dirty="0"/>
          </a:p>
        </p:txBody>
      </p:sp>
      <p:sp>
        <p:nvSpPr>
          <p:cNvPr id="89" name="Sh89"/>
          <p:cNvSpPr/>
          <p:nvPr/>
        </p:nvSpPr>
        <p:spPr>
          <a:xfrm>
            <a:off x="146304" y="2244770"/>
            <a:ext cx="1310865" cy="134277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Tx90"/>
          <p:cNvSpPr/>
          <p:nvPr/>
        </p:nvSpPr>
        <p:spPr>
          <a:xfrm>
            <a:off x="220032" y="228977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B10</a:t>
            </a:r>
            <a:endParaRPr lang="en-US" sz="700" dirty="0"/>
          </a:p>
        </p:txBody>
      </p:sp>
      <p:sp>
        <p:nvSpPr>
          <p:cNvPr id="91" name="Tx91"/>
          <p:cNvSpPr/>
          <p:nvPr/>
        </p:nvSpPr>
        <p:spPr>
          <a:xfrm>
            <a:off x="1307169" y="228477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sp>
        <p:nvSpPr>
          <p:cNvPr id="92" name="Tx92"/>
          <p:cNvSpPr/>
          <p:nvPr/>
        </p:nvSpPr>
        <p:spPr>
          <a:xfrm>
            <a:off x="220032" y="240477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700" dirty="0"/>
          </a:p>
        </p:txBody>
      </p:sp>
      <p:sp>
        <p:nvSpPr>
          <p:cNvPr id="93" name="Tx93"/>
          <p:cNvSpPr/>
          <p:nvPr/>
        </p:nvSpPr>
        <p:spPr>
          <a:xfrm>
            <a:off x="220032" y="269977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Disputes</a:t>
            </a:r>
            <a:endParaRPr lang="en-US" sz="700" dirty="0"/>
          </a:p>
        </p:txBody>
      </p:sp>
      <p:sp>
        <p:nvSpPr>
          <p:cNvPr id="94" name="Sh94"/>
          <p:cNvSpPr/>
          <p:nvPr/>
        </p:nvSpPr>
        <p:spPr>
          <a:xfrm>
            <a:off x="220032" y="2929770"/>
            <a:ext cx="1163409" cy="0"/>
          </a:xfrm>
          <a:prstGeom prst="line">
            <a:avLst/>
          </a:prstGeom>
          <a:noFill/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x95"/>
          <p:cNvSpPr/>
          <p:nvPr/>
        </p:nvSpPr>
        <p:spPr>
          <a:xfrm>
            <a:off x="220032" y="294477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Auto-resolves card disputes under INR 10,000 — validates merchant response, checks chargeback eligibility &amp; processes provisional credit within RBI-mandated 10-day window without agent touch</a:t>
            </a:r>
            <a:endParaRPr lang="en-US" sz="700" dirty="0"/>
          </a:p>
        </p:txBody>
      </p:sp>
      <p:sp>
        <p:nvSpPr>
          <p:cNvPr id="96" name="Sh96"/>
          <p:cNvSpPr/>
          <p:nvPr/>
        </p:nvSpPr>
        <p:spPr>
          <a:xfrm>
            <a:off x="1469869" y="2244770"/>
            <a:ext cx="1310865" cy="1342770"/>
          </a:xfrm>
          <a:prstGeom prst="rect">
            <a:avLst/>
          </a:prstGeom>
          <a:solidFill>
            <a:srgbClr val="CFFAFE"/>
          </a:solidFill>
          <a:ln w="12700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Tx97"/>
          <p:cNvSpPr/>
          <p:nvPr/>
        </p:nvSpPr>
        <p:spPr>
          <a:xfrm>
            <a:off x="1543597" y="228977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B11</a:t>
            </a:r>
            <a:endParaRPr lang="en-US" sz="700" dirty="0"/>
          </a:p>
        </p:txBody>
      </p:sp>
      <p:sp>
        <p:nvSpPr>
          <p:cNvPr id="98" name="Tx98"/>
          <p:cNvSpPr/>
          <p:nvPr/>
        </p:nvSpPr>
        <p:spPr>
          <a:xfrm>
            <a:off x="2630734" y="228477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700" dirty="0"/>
          </a:p>
        </p:txBody>
      </p:sp>
      <p:sp>
        <p:nvSpPr>
          <p:cNvPr id="99" name="Tx99"/>
          <p:cNvSpPr/>
          <p:nvPr/>
        </p:nvSpPr>
        <p:spPr>
          <a:xfrm>
            <a:off x="1543597" y="240477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</a:t>
            </a:r>
            <a:endParaRPr lang="en-US" sz="700" dirty="0"/>
          </a:p>
        </p:txBody>
      </p:sp>
      <p:sp>
        <p:nvSpPr>
          <p:cNvPr id="100" name="Tx100"/>
          <p:cNvSpPr/>
          <p:nvPr/>
        </p:nvSpPr>
        <p:spPr>
          <a:xfrm>
            <a:off x="1543597" y="269977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Intelligence</a:t>
            </a:r>
            <a:endParaRPr lang="en-US" sz="700" dirty="0"/>
          </a:p>
        </p:txBody>
      </p:sp>
      <p:sp>
        <p:nvSpPr>
          <p:cNvPr id="101" name="Sh101"/>
          <p:cNvSpPr/>
          <p:nvPr/>
        </p:nvSpPr>
        <p:spPr>
          <a:xfrm>
            <a:off x="1543597" y="2929770"/>
            <a:ext cx="1163409" cy="0"/>
          </a:xfrm>
          <a:prstGeom prst="line">
            <a:avLst/>
          </a:prstGeom>
          <a:noFill/>
          <a:ln w="9525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Tx102"/>
          <p:cNvSpPr/>
          <p:nvPr/>
        </p:nvSpPr>
        <p:spPr>
          <a:xfrm>
            <a:off x="1543597" y="294477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16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co-pilot for Relationship Managers — surfaces next-best product, share-of-wallet gaps &amp; churn signals per client; generates pre-call briefs &amp; post-meeting notes from call transcripts automatically</a:t>
            </a:r>
            <a:endParaRPr lang="en-US" sz="700" dirty="0"/>
          </a:p>
        </p:txBody>
      </p:sp>
      <p:sp>
        <p:nvSpPr>
          <p:cNvPr id="103" name="Sh103"/>
          <p:cNvSpPr/>
          <p:nvPr/>
        </p:nvSpPr>
        <p:spPr>
          <a:xfrm>
            <a:off x="2793434" y="2244770"/>
            <a:ext cx="1310865" cy="1342770"/>
          </a:xfrm>
          <a:prstGeom prst="rect">
            <a:avLst/>
          </a:prstGeom>
          <a:solidFill>
            <a:srgbClr val="CFFAFE"/>
          </a:solidFill>
          <a:ln w="12700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Tx104"/>
          <p:cNvSpPr/>
          <p:nvPr/>
        </p:nvSpPr>
        <p:spPr>
          <a:xfrm>
            <a:off x="2867162" y="228977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B12</a:t>
            </a:r>
            <a:endParaRPr lang="en-US" sz="700" dirty="0"/>
          </a:p>
        </p:txBody>
      </p:sp>
      <p:sp>
        <p:nvSpPr>
          <p:cNvPr id="105" name="Tx105"/>
          <p:cNvSpPr/>
          <p:nvPr/>
        </p:nvSpPr>
        <p:spPr>
          <a:xfrm>
            <a:off x="3954299" y="228477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sp>
        <p:nvSpPr>
          <p:cNvPr id="106" name="Tx106"/>
          <p:cNvSpPr/>
          <p:nvPr/>
        </p:nvSpPr>
        <p:spPr>
          <a:xfrm>
            <a:off x="2867162" y="240477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700" dirty="0"/>
          </a:p>
        </p:txBody>
      </p:sp>
      <p:sp>
        <p:nvSpPr>
          <p:cNvPr id="107" name="Tx107"/>
          <p:cNvSpPr/>
          <p:nvPr/>
        </p:nvSpPr>
        <p:spPr>
          <a:xfrm>
            <a:off x="2867162" y="269977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Strategist</a:t>
            </a:r>
            <a:endParaRPr lang="en-US" sz="700" dirty="0"/>
          </a:p>
        </p:txBody>
      </p:sp>
      <p:sp>
        <p:nvSpPr>
          <p:cNvPr id="108" name="Sh108"/>
          <p:cNvSpPr/>
          <p:nvPr/>
        </p:nvSpPr>
        <p:spPr>
          <a:xfrm>
            <a:off x="2867162" y="2929770"/>
            <a:ext cx="1163409" cy="0"/>
          </a:xfrm>
          <a:prstGeom prst="line">
            <a:avLst/>
          </a:prstGeom>
          <a:noFill/>
          <a:ln w="9525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x109"/>
          <p:cNvSpPr/>
          <p:nvPr/>
        </p:nvSpPr>
        <p:spPr>
          <a:xfrm>
            <a:off x="2867162" y="294477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16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Propensity-based collections — segments DPD buckets by recovery likelihood, selects optimal contact channel &amp; drafts personalised settlement offers; lifts collection efficiency by 28% with lower call volume</a:t>
            </a:r>
            <a:endParaRPr lang="en-US" sz="700" dirty="0"/>
          </a:p>
        </p:txBody>
      </p:sp>
      <p:sp>
        <p:nvSpPr>
          <p:cNvPr id="110" name="Sh110"/>
          <p:cNvSpPr/>
          <p:nvPr/>
        </p:nvSpPr>
        <p:spPr>
          <a:xfrm>
            <a:off x="4116999" y="2244770"/>
            <a:ext cx="1310865" cy="1342770"/>
          </a:xfrm>
          <a:prstGeom prst="rect">
            <a:avLst/>
          </a:prstGeom>
          <a:solidFill>
            <a:srgbClr val="CFFAFE"/>
          </a:solidFill>
          <a:ln w="12700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x111"/>
          <p:cNvSpPr/>
          <p:nvPr/>
        </p:nvSpPr>
        <p:spPr>
          <a:xfrm>
            <a:off x="4190727" y="228977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B13</a:t>
            </a:r>
            <a:endParaRPr lang="en-US" sz="700" dirty="0"/>
          </a:p>
        </p:txBody>
      </p:sp>
      <p:sp>
        <p:nvSpPr>
          <p:cNvPr id="112" name="Tx112"/>
          <p:cNvSpPr/>
          <p:nvPr/>
        </p:nvSpPr>
        <p:spPr>
          <a:xfrm>
            <a:off x="5277864" y="228477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sp>
        <p:nvSpPr>
          <p:cNvPr id="113" name="Tx113"/>
          <p:cNvSpPr/>
          <p:nvPr/>
        </p:nvSpPr>
        <p:spPr>
          <a:xfrm>
            <a:off x="4190727" y="240477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700" dirty="0"/>
          </a:p>
        </p:txBody>
      </p:sp>
      <p:sp>
        <p:nvSpPr>
          <p:cNvPr id="114" name="Tx114"/>
          <p:cNvSpPr/>
          <p:nvPr/>
        </p:nvSpPr>
        <p:spPr>
          <a:xfrm>
            <a:off x="4190727" y="269977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Invoice Processor</a:t>
            </a:r>
            <a:endParaRPr lang="en-US" sz="700" dirty="0"/>
          </a:p>
        </p:txBody>
      </p:sp>
      <p:sp>
        <p:nvSpPr>
          <p:cNvPr id="115" name="Sh115"/>
          <p:cNvSpPr/>
          <p:nvPr/>
        </p:nvSpPr>
        <p:spPr>
          <a:xfrm>
            <a:off x="4190727" y="2929770"/>
            <a:ext cx="1163409" cy="0"/>
          </a:xfrm>
          <a:prstGeom prst="line">
            <a:avLst/>
          </a:prstGeom>
          <a:noFill/>
          <a:ln w="9525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6" name="Tx116"/>
          <p:cNvSpPr/>
          <p:nvPr/>
        </p:nvSpPr>
        <p:spPr>
          <a:xfrm>
            <a:off x="4190727" y="294477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16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&amp; validates vendor invoices against POs &amp; GRNs — handles multi-format documents, routes exceptions, posts to ERP &amp; matches GL codes; processes 500+ invoices per hour with 99.2% accuracy</a:t>
            </a:r>
            <a:endParaRPr lang="en-US" sz="700" dirty="0"/>
          </a:p>
        </p:txBody>
      </p:sp>
      <p:sp>
        <p:nvSpPr>
          <p:cNvPr id="117" name="Sh117"/>
          <p:cNvSpPr/>
          <p:nvPr/>
        </p:nvSpPr>
        <p:spPr>
          <a:xfrm>
            <a:off x="5440564" y="2244770"/>
            <a:ext cx="1310865" cy="1342770"/>
          </a:xfrm>
          <a:prstGeom prst="rect">
            <a:avLst/>
          </a:prstGeom>
          <a:solidFill>
            <a:srgbClr val="CFFAFE"/>
          </a:solidFill>
          <a:ln w="12700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8" name="Tx118"/>
          <p:cNvSpPr/>
          <p:nvPr/>
        </p:nvSpPr>
        <p:spPr>
          <a:xfrm>
            <a:off x="5514292" y="228977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B14</a:t>
            </a:r>
            <a:endParaRPr lang="en-US" sz="700" dirty="0"/>
          </a:p>
        </p:txBody>
      </p:sp>
      <p:sp>
        <p:nvSpPr>
          <p:cNvPr id="119" name="Tx119"/>
          <p:cNvSpPr/>
          <p:nvPr/>
        </p:nvSpPr>
        <p:spPr>
          <a:xfrm>
            <a:off x="6601429" y="228477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sp>
        <p:nvSpPr>
          <p:cNvPr id="120" name="Tx120"/>
          <p:cNvSpPr/>
          <p:nvPr/>
        </p:nvSpPr>
        <p:spPr>
          <a:xfrm>
            <a:off x="5514292" y="240477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700" dirty="0"/>
          </a:p>
        </p:txBody>
      </p:sp>
      <p:sp>
        <p:nvSpPr>
          <p:cNvPr id="121" name="Tx121"/>
          <p:cNvSpPr/>
          <p:nvPr/>
        </p:nvSpPr>
        <p:spPr>
          <a:xfrm>
            <a:off x="5514292" y="269977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Collections Agent</a:t>
            </a:r>
            <a:endParaRPr lang="en-US" sz="700" dirty="0"/>
          </a:p>
        </p:txBody>
      </p:sp>
      <p:sp>
        <p:nvSpPr>
          <p:cNvPr id="122" name="Sh122"/>
          <p:cNvSpPr/>
          <p:nvPr/>
        </p:nvSpPr>
        <p:spPr>
          <a:xfrm>
            <a:off x="5514292" y="2929770"/>
            <a:ext cx="1163409" cy="0"/>
          </a:xfrm>
          <a:prstGeom prst="line">
            <a:avLst/>
          </a:prstGeom>
          <a:noFill/>
          <a:ln w="9525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3" name="Tx123"/>
          <p:cNvSpPr/>
          <p:nvPr/>
        </p:nvSpPr>
        <p:spPr>
          <a:xfrm>
            <a:off x="5514292" y="294477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16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receivables management — sends dunning communications, tracks payment commitments &amp; escalates overdue accounts; reduces DSO by avg 12 days and cuts manual follow-up workload by 70%</a:t>
            </a:r>
            <a:endParaRPr lang="en-US" sz="700" dirty="0"/>
          </a:p>
        </p:txBody>
      </p:sp>
      <p:sp>
        <p:nvSpPr>
          <p:cNvPr id="124" name="Sh124"/>
          <p:cNvSpPr/>
          <p:nvPr/>
        </p:nvSpPr>
        <p:spPr>
          <a:xfrm>
            <a:off x="6764129" y="2244770"/>
            <a:ext cx="1310865" cy="1342770"/>
          </a:xfrm>
          <a:prstGeom prst="rect">
            <a:avLst/>
          </a:prstGeom>
          <a:solidFill>
            <a:srgbClr val="CFFAFE"/>
          </a:solidFill>
          <a:ln w="12700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x125"/>
          <p:cNvSpPr/>
          <p:nvPr/>
        </p:nvSpPr>
        <p:spPr>
          <a:xfrm>
            <a:off x="6837857" y="228977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B15</a:t>
            </a:r>
            <a:endParaRPr lang="en-US" sz="700" dirty="0"/>
          </a:p>
        </p:txBody>
      </p:sp>
      <p:sp>
        <p:nvSpPr>
          <p:cNvPr id="126" name="Tx126"/>
          <p:cNvSpPr/>
          <p:nvPr/>
        </p:nvSpPr>
        <p:spPr>
          <a:xfrm>
            <a:off x="7924994" y="228477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sp>
        <p:nvSpPr>
          <p:cNvPr id="127" name="Tx127"/>
          <p:cNvSpPr/>
          <p:nvPr/>
        </p:nvSpPr>
        <p:spPr>
          <a:xfrm>
            <a:off x="6837857" y="240477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</a:t>
            </a:r>
            <a:endParaRPr lang="en-US" sz="700" dirty="0"/>
          </a:p>
        </p:txBody>
      </p:sp>
      <p:sp>
        <p:nvSpPr>
          <p:cNvPr id="128" name="Tx128"/>
          <p:cNvSpPr/>
          <p:nvPr/>
        </p:nvSpPr>
        <p:spPr>
          <a:xfrm>
            <a:off x="6837857" y="269977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Ops Automator</a:t>
            </a:r>
            <a:endParaRPr lang="en-US" sz="700" dirty="0"/>
          </a:p>
        </p:txBody>
      </p:sp>
      <p:sp>
        <p:nvSpPr>
          <p:cNvPr id="129" name="Sh129"/>
          <p:cNvSpPr/>
          <p:nvPr/>
        </p:nvSpPr>
        <p:spPr>
          <a:xfrm>
            <a:off x="6837857" y="2929770"/>
            <a:ext cx="1163409" cy="0"/>
          </a:xfrm>
          <a:prstGeom prst="line">
            <a:avLst/>
          </a:prstGeom>
          <a:noFill/>
          <a:ln w="9525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Tx130"/>
          <p:cNvSpPr/>
          <p:nvPr/>
        </p:nvSpPr>
        <p:spPr>
          <a:xfrm>
            <a:off x="6837857" y="294477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16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back-office branch tasks — cash reconciliation, end-of-day reporting, instrument dispatch tracking &amp; vault balancing; frees 3 FTE per branch for customer-facing roles</a:t>
            </a:r>
            <a:endParaRPr lang="en-US" sz="700" dirty="0"/>
          </a:p>
        </p:txBody>
      </p:sp>
      <p:sp>
        <p:nvSpPr>
          <p:cNvPr id="131" name="Sh131"/>
          <p:cNvSpPr/>
          <p:nvPr/>
        </p:nvSpPr>
        <p:spPr>
          <a:xfrm>
            <a:off x="8087694" y="2244770"/>
            <a:ext cx="1310865" cy="134277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2" name="Tx132"/>
          <p:cNvSpPr/>
          <p:nvPr/>
        </p:nvSpPr>
        <p:spPr>
          <a:xfrm>
            <a:off x="8161422" y="228977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B16</a:t>
            </a:r>
            <a:endParaRPr lang="en-US" sz="700" dirty="0"/>
          </a:p>
        </p:txBody>
      </p:sp>
      <p:sp>
        <p:nvSpPr>
          <p:cNvPr id="133" name="Tx133"/>
          <p:cNvSpPr/>
          <p:nvPr/>
        </p:nvSpPr>
        <p:spPr>
          <a:xfrm>
            <a:off x="9248559" y="228477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700" dirty="0"/>
          </a:p>
        </p:txBody>
      </p:sp>
      <p:sp>
        <p:nvSpPr>
          <p:cNvPr id="134" name="Tx134"/>
          <p:cNvSpPr/>
          <p:nvPr/>
        </p:nvSpPr>
        <p:spPr>
          <a:xfrm>
            <a:off x="8161422" y="240477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endParaRPr lang="en-US" sz="700" dirty="0"/>
          </a:p>
        </p:txBody>
      </p:sp>
      <p:sp>
        <p:nvSpPr>
          <p:cNvPr id="135" name="Tx135"/>
          <p:cNvSpPr/>
          <p:nvPr/>
        </p:nvSpPr>
        <p:spPr>
          <a:xfrm>
            <a:off x="8161422" y="269977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Monitor</a:t>
            </a:r>
            <a:endParaRPr lang="en-US" sz="700" dirty="0"/>
          </a:p>
        </p:txBody>
      </p:sp>
      <p:sp>
        <p:nvSpPr>
          <p:cNvPr id="136" name="Sh136"/>
          <p:cNvSpPr/>
          <p:nvPr/>
        </p:nvSpPr>
        <p:spPr>
          <a:xfrm>
            <a:off x="8161422" y="2929770"/>
            <a:ext cx="1163409" cy="0"/>
          </a:xfrm>
          <a:prstGeom prst="line">
            <a:avLst/>
          </a:prstGeom>
          <a:noFill/>
          <a:ln w="9525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" name="Tx137"/>
          <p:cNvSpPr/>
          <p:nvPr/>
        </p:nvSpPr>
        <p:spPr>
          <a:xfrm>
            <a:off x="8161422" y="294477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ALM monitoring — tracks liquidity coverage ratio, NSFR &amp; CRR/SLR compliance; alerts treasury desk when buffers approach regulatory minimums with suggested deployment options</a:t>
            </a:r>
            <a:endParaRPr lang="en-US" sz="700" dirty="0"/>
          </a:p>
        </p:txBody>
      </p:sp>
      <p:sp>
        <p:nvSpPr>
          <p:cNvPr id="138" name="Sh138"/>
          <p:cNvSpPr/>
          <p:nvPr/>
        </p:nvSpPr>
        <p:spPr>
          <a:xfrm>
            <a:off x="9411259" y="2244770"/>
            <a:ext cx="1310865" cy="134277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9" name="Tx139"/>
          <p:cNvSpPr/>
          <p:nvPr/>
        </p:nvSpPr>
        <p:spPr>
          <a:xfrm>
            <a:off x="9484987" y="228977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B17</a:t>
            </a:r>
            <a:endParaRPr lang="en-US" sz="700" dirty="0"/>
          </a:p>
        </p:txBody>
      </p:sp>
      <p:sp>
        <p:nvSpPr>
          <p:cNvPr id="140" name="Tx140"/>
          <p:cNvSpPr/>
          <p:nvPr/>
        </p:nvSpPr>
        <p:spPr>
          <a:xfrm>
            <a:off x="10572124" y="228477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sp>
        <p:nvSpPr>
          <p:cNvPr id="141" name="Tx141"/>
          <p:cNvSpPr/>
          <p:nvPr/>
        </p:nvSpPr>
        <p:spPr>
          <a:xfrm>
            <a:off x="9484987" y="240477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</a:t>
            </a:r>
            <a:endParaRPr lang="en-US" sz="700" dirty="0"/>
          </a:p>
        </p:txBody>
      </p:sp>
      <p:sp>
        <p:nvSpPr>
          <p:cNvPr id="142" name="Tx142"/>
          <p:cNvSpPr/>
          <p:nvPr/>
        </p:nvSpPr>
        <p:spPr>
          <a:xfrm>
            <a:off x="9484987" y="269977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Finance Checker</a:t>
            </a:r>
            <a:endParaRPr lang="en-US" sz="700" dirty="0"/>
          </a:p>
        </p:txBody>
      </p:sp>
      <p:sp>
        <p:nvSpPr>
          <p:cNvPr id="143" name="Sh143"/>
          <p:cNvSpPr/>
          <p:nvPr/>
        </p:nvSpPr>
        <p:spPr>
          <a:xfrm>
            <a:off x="9484987" y="2929770"/>
            <a:ext cx="1163409" cy="0"/>
          </a:xfrm>
          <a:prstGeom prst="line">
            <a:avLst/>
          </a:prstGeom>
          <a:noFill/>
          <a:ln w="9525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4" name="Tx144"/>
          <p:cNvSpPr/>
          <p:nvPr/>
        </p:nvSpPr>
        <p:spPr>
          <a:xfrm>
            <a:off x="9484987" y="294477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LC documents against UCP 600 rules — checks discrepancies across bills of lading, invoices &amp; certificates; reduces document checking time from 4 hours to 18 minutes per LC transaction</a:t>
            </a:r>
            <a:endParaRPr lang="en-US" sz="700" dirty="0"/>
          </a:p>
        </p:txBody>
      </p:sp>
      <p:sp>
        <p:nvSpPr>
          <p:cNvPr id="145" name="Sh145"/>
          <p:cNvSpPr/>
          <p:nvPr/>
        </p:nvSpPr>
        <p:spPr>
          <a:xfrm>
            <a:off x="10734824" y="2244770"/>
            <a:ext cx="1310865" cy="134277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Tx146"/>
          <p:cNvSpPr/>
          <p:nvPr/>
        </p:nvSpPr>
        <p:spPr>
          <a:xfrm>
            <a:off x="10808552" y="228977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B18</a:t>
            </a:r>
            <a:endParaRPr lang="en-US" sz="700" dirty="0"/>
          </a:p>
        </p:txBody>
      </p:sp>
      <p:sp>
        <p:nvSpPr>
          <p:cNvPr id="147" name="Tx147"/>
          <p:cNvSpPr/>
          <p:nvPr/>
        </p:nvSpPr>
        <p:spPr>
          <a:xfrm>
            <a:off x="11895689" y="228477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sp>
        <p:nvSpPr>
          <p:cNvPr id="148" name="Tx148"/>
          <p:cNvSpPr/>
          <p:nvPr/>
        </p:nvSpPr>
        <p:spPr>
          <a:xfrm>
            <a:off x="10808552" y="240477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700" dirty="0"/>
          </a:p>
        </p:txBody>
      </p:sp>
      <p:sp>
        <p:nvSpPr>
          <p:cNvPr id="149" name="Tx149"/>
          <p:cNvSpPr/>
          <p:nvPr/>
        </p:nvSpPr>
        <p:spPr>
          <a:xfrm>
            <a:off x="10808552" y="269977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Forex Rate Monitor</a:t>
            </a:r>
            <a:endParaRPr lang="en-US" sz="700" dirty="0"/>
          </a:p>
        </p:txBody>
      </p:sp>
      <p:sp>
        <p:nvSpPr>
          <p:cNvPr id="150" name="Sh150"/>
          <p:cNvSpPr/>
          <p:nvPr/>
        </p:nvSpPr>
        <p:spPr>
          <a:xfrm>
            <a:off x="10808552" y="2929770"/>
            <a:ext cx="1163409" cy="0"/>
          </a:xfrm>
          <a:prstGeom prst="line">
            <a:avLst/>
          </a:prstGeom>
          <a:noFill/>
          <a:ln w="9525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Tx151"/>
          <p:cNvSpPr/>
          <p:nvPr/>
        </p:nvSpPr>
        <p:spPr>
          <a:xfrm>
            <a:off x="10808552" y="294477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interbank FX rates across 25 currency pairs — tracks spread deviation, positions exposure against VaR limits &amp; auto-alerts dealers when rate anomalies signal arbitrage or market disruption</a:t>
            </a:r>
            <a:endParaRPr lang="en-US" sz="700" dirty="0"/>
          </a:p>
        </p:txBody>
      </p:sp>
      <p:sp>
        <p:nvSpPr>
          <p:cNvPr id="152" name="Sh152"/>
          <p:cNvSpPr/>
          <p:nvPr/>
        </p:nvSpPr>
        <p:spPr>
          <a:xfrm>
            <a:off x="146304" y="3657540"/>
            <a:ext cx="1310865" cy="134277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3" name="Tx153"/>
          <p:cNvSpPr/>
          <p:nvPr/>
        </p:nvSpPr>
        <p:spPr>
          <a:xfrm>
            <a:off x="220032" y="370254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N01</a:t>
            </a:r>
            <a:endParaRPr lang="en-US" sz="700" dirty="0"/>
          </a:p>
        </p:txBody>
      </p:sp>
      <p:sp>
        <p:nvSpPr>
          <p:cNvPr id="154" name="Tx154"/>
          <p:cNvSpPr/>
          <p:nvPr/>
        </p:nvSpPr>
        <p:spPr>
          <a:xfrm>
            <a:off x="1307169" y="369754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700" dirty="0"/>
          </a:p>
        </p:txBody>
      </p:sp>
      <p:sp>
        <p:nvSpPr>
          <p:cNvPr id="155" name="Tx155"/>
          <p:cNvSpPr/>
          <p:nvPr/>
        </p:nvSpPr>
        <p:spPr>
          <a:xfrm>
            <a:off x="220032" y="381754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</a:t>
            </a:r>
            <a:endParaRPr lang="en-US" sz="700" dirty="0"/>
          </a:p>
        </p:txBody>
      </p:sp>
      <p:sp>
        <p:nvSpPr>
          <p:cNvPr id="156" name="Tx156"/>
          <p:cNvSpPr/>
          <p:nvPr/>
        </p:nvSpPr>
        <p:spPr>
          <a:xfrm>
            <a:off x="220032" y="411254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Microfinance Underwriter</a:t>
            </a:r>
            <a:endParaRPr lang="en-US" sz="700" dirty="0"/>
          </a:p>
        </p:txBody>
      </p:sp>
      <p:sp>
        <p:nvSpPr>
          <p:cNvPr id="157" name="Sh157"/>
          <p:cNvSpPr/>
          <p:nvPr/>
        </p:nvSpPr>
        <p:spPr>
          <a:xfrm>
            <a:off x="220032" y="4342540"/>
            <a:ext cx="1163409" cy="0"/>
          </a:xfrm>
          <a:prstGeom prst="line">
            <a:avLst/>
          </a:prstGeom>
          <a:noFill/>
          <a:ln w="9525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8" name="Tx158"/>
          <p:cNvSpPr/>
          <p:nvPr/>
        </p:nvSpPr>
        <p:spPr>
          <a:xfrm>
            <a:off x="220032" y="435754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liability group underwriting — analyses member repayment history, centre meeting attendance &amp; household income proxies; approves MFI loans in under 2 hours with digital KYC embedded in workflow</a:t>
            </a:r>
            <a:endParaRPr lang="en-US" sz="700" dirty="0"/>
          </a:p>
        </p:txBody>
      </p:sp>
      <p:sp>
        <p:nvSpPr>
          <p:cNvPr id="159" name="Sh159"/>
          <p:cNvSpPr/>
          <p:nvPr/>
        </p:nvSpPr>
        <p:spPr>
          <a:xfrm>
            <a:off x="1469869" y="3657540"/>
            <a:ext cx="1310865" cy="134277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0" name="Tx160"/>
          <p:cNvSpPr/>
          <p:nvPr/>
        </p:nvSpPr>
        <p:spPr>
          <a:xfrm>
            <a:off x="1543597" y="370254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N02</a:t>
            </a:r>
            <a:endParaRPr lang="en-US" sz="700" dirty="0"/>
          </a:p>
        </p:txBody>
      </p:sp>
      <p:sp>
        <p:nvSpPr>
          <p:cNvPr id="161" name="Tx161"/>
          <p:cNvSpPr/>
          <p:nvPr/>
        </p:nvSpPr>
        <p:spPr>
          <a:xfrm>
            <a:off x="2630734" y="369754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700" dirty="0"/>
          </a:p>
        </p:txBody>
      </p:sp>
      <p:sp>
        <p:nvSpPr>
          <p:cNvPr id="162" name="Tx162"/>
          <p:cNvSpPr/>
          <p:nvPr/>
        </p:nvSpPr>
        <p:spPr>
          <a:xfrm>
            <a:off x="1543597" y="381754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</a:t>
            </a:r>
            <a:endParaRPr lang="en-US" sz="700" dirty="0"/>
          </a:p>
        </p:txBody>
      </p:sp>
      <p:sp>
        <p:nvSpPr>
          <p:cNvPr id="163" name="Tx163"/>
          <p:cNvSpPr/>
          <p:nvPr/>
        </p:nvSpPr>
        <p:spPr>
          <a:xfrm>
            <a:off x="1543597" y="411254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Loan Appraiser</a:t>
            </a:r>
            <a:endParaRPr lang="en-US" sz="700" dirty="0"/>
          </a:p>
        </p:txBody>
      </p:sp>
      <p:sp>
        <p:nvSpPr>
          <p:cNvPr id="164" name="Sh164"/>
          <p:cNvSpPr/>
          <p:nvPr/>
        </p:nvSpPr>
        <p:spPr>
          <a:xfrm>
            <a:off x="1543597" y="4342540"/>
            <a:ext cx="1163409" cy="0"/>
          </a:xfrm>
          <a:prstGeom prst="line">
            <a:avLst/>
          </a:prstGeom>
          <a:noFill/>
          <a:ln w="9525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5" name="Tx165"/>
          <p:cNvSpPr/>
          <p:nvPr/>
        </p:nvSpPr>
        <p:spPr>
          <a:xfrm>
            <a:off x="1543597" y="435754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gold purity &amp; weight assessment — integrates XRF device data with market price feeds; calculates eligible LTV, triggers disbursement &amp; monitors gold price for top-up or recall triggers</a:t>
            </a:r>
            <a:endParaRPr lang="en-US" sz="700" dirty="0"/>
          </a:p>
        </p:txBody>
      </p:sp>
      <p:sp>
        <p:nvSpPr>
          <p:cNvPr id="166" name="Sh166"/>
          <p:cNvSpPr/>
          <p:nvPr/>
        </p:nvSpPr>
        <p:spPr>
          <a:xfrm>
            <a:off x="2793434" y="3657540"/>
            <a:ext cx="1310865" cy="134277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7" name="Tx167"/>
          <p:cNvSpPr/>
          <p:nvPr/>
        </p:nvSpPr>
        <p:spPr>
          <a:xfrm>
            <a:off x="2867162" y="370254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N03</a:t>
            </a:r>
            <a:endParaRPr lang="en-US" sz="700" dirty="0"/>
          </a:p>
        </p:txBody>
      </p:sp>
      <p:sp>
        <p:nvSpPr>
          <p:cNvPr id="168" name="Tx168"/>
          <p:cNvSpPr/>
          <p:nvPr/>
        </p:nvSpPr>
        <p:spPr>
          <a:xfrm>
            <a:off x="3954299" y="369754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sp>
        <p:nvSpPr>
          <p:cNvPr id="169" name="Tx169"/>
          <p:cNvSpPr/>
          <p:nvPr/>
        </p:nvSpPr>
        <p:spPr>
          <a:xfrm>
            <a:off x="2867162" y="381754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</a:t>
            </a:r>
            <a:endParaRPr lang="en-US" sz="700" dirty="0"/>
          </a:p>
        </p:txBody>
      </p:sp>
      <p:sp>
        <p:nvSpPr>
          <p:cNvPr id="170" name="Tx170"/>
          <p:cNvSpPr/>
          <p:nvPr/>
        </p:nvSpPr>
        <p:spPr>
          <a:xfrm>
            <a:off x="2867162" y="411254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Against Securities</a:t>
            </a:r>
            <a:endParaRPr lang="en-US" sz="700" dirty="0"/>
          </a:p>
        </p:txBody>
      </p:sp>
      <p:sp>
        <p:nvSpPr>
          <p:cNvPr id="171" name="Sh171"/>
          <p:cNvSpPr/>
          <p:nvPr/>
        </p:nvSpPr>
        <p:spPr>
          <a:xfrm>
            <a:off x="2867162" y="4342540"/>
            <a:ext cx="1163409" cy="0"/>
          </a:xfrm>
          <a:prstGeom prst="line">
            <a:avLst/>
          </a:prstGeom>
          <a:noFill/>
          <a:ln w="9525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2" name="Tx172"/>
          <p:cNvSpPr/>
          <p:nvPr/>
        </p:nvSpPr>
        <p:spPr>
          <a:xfrm>
            <a:off x="2867162" y="435754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pledged securities portfolio in real time — tracks margin levels across equity, MF &amp; bond collateral; auto-triggers margin calls, top-up requests &amp; forced liquidation when LTV breaches covenant</a:t>
            </a:r>
            <a:endParaRPr lang="en-US" sz="700" dirty="0"/>
          </a:p>
        </p:txBody>
      </p:sp>
      <p:sp>
        <p:nvSpPr>
          <p:cNvPr id="173" name="Sh173"/>
          <p:cNvSpPr/>
          <p:nvPr/>
        </p:nvSpPr>
        <p:spPr>
          <a:xfrm>
            <a:off x="4116999" y="3657540"/>
            <a:ext cx="1310865" cy="134277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4" name="Tx174"/>
          <p:cNvSpPr/>
          <p:nvPr/>
        </p:nvSpPr>
        <p:spPr>
          <a:xfrm>
            <a:off x="4190727" y="370254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N04</a:t>
            </a:r>
            <a:endParaRPr lang="en-US" sz="700" dirty="0"/>
          </a:p>
        </p:txBody>
      </p:sp>
      <p:sp>
        <p:nvSpPr>
          <p:cNvPr id="175" name="Tx175"/>
          <p:cNvSpPr/>
          <p:nvPr/>
        </p:nvSpPr>
        <p:spPr>
          <a:xfrm>
            <a:off x="5277864" y="369754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sp>
        <p:nvSpPr>
          <p:cNvPr id="176" name="Tx176"/>
          <p:cNvSpPr/>
          <p:nvPr/>
        </p:nvSpPr>
        <p:spPr>
          <a:xfrm>
            <a:off x="4190727" y="381754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</a:t>
            </a:r>
            <a:endParaRPr lang="en-US" sz="700" dirty="0"/>
          </a:p>
        </p:txBody>
      </p:sp>
      <p:sp>
        <p:nvSpPr>
          <p:cNvPr id="177" name="Tx177"/>
          <p:cNvSpPr/>
          <p:nvPr/>
        </p:nvSpPr>
        <p:spPr>
          <a:xfrm>
            <a:off x="4190727" y="411254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KYC Agent</a:t>
            </a:r>
            <a:endParaRPr lang="en-US" sz="700" dirty="0"/>
          </a:p>
        </p:txBody>
      </p:sp>
      <p:sp>
        <p:nvSpPr>
          <p:cNvPr id="178" name="Sh178"/>
          <p:cNvSpPr/>
          <p:nvPr/>
        </p:nvSpPr>
        <p:spPr>
          <a:xfrm>
            <a:off x="4190727" y="4342540"/>
            <a:ext cx="1163409" cy="0"/>
          </a:xfrm>
          <a:prstGeom prst="line">
            <a:avLst/>
          </a:prstGeom>
          <a:noFill/>
          <a:ln w="9525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9" name="Tx179"/>
          <p:cNvSpPr/>
          <p:nvPr/>
        </p:nvSpPr>
        <p:spPr>
          <a:xfrm>
            <a:off x="4190727" y="435754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KYC &amp; OKYC orchestration for NBFC onboarding — verifies identity via facial liveness, reads Aadhaar QR &amp; checks CKYC registry; completes RBI-compliant KYC in under 5 minutes digitally</a:t>
            </a:r>
            <a:endParaRPr lang="en-US" sz="700" dirty="0"/>
          </a:p>
        </p:txBody>
      </p:sp>
      <p:sp>
        <p:nvSpPr>
          <p:cNvPr id="180" name="Sh180"/>
          <p:cNvSpPr/>
          <p:nvPr/>
        </p:nvSpPr>
        <p:spPr>
          <a:xfrm>
            <a:off x="5440564" y="3657540"/>
            <a:ext cx="1310865" cy="134277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1" name="Tx181"/>
          <p:cNvSpPr/>
          <p:nvPr/>
        </p:nvSpPr>
        <p:spPr>
          <a:xfrm>
            <a:off x="5514292" y="370254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N05</a:t>
            </a:r>
            <a:endParaRPr lang="en-US" sz="700" dirty="0"/>
          </a:p>
        </p:txBody>
      </p:sp>
      <p:sp>
        <p:nvSpPr>
          <p:cNvPr id="182" name="Tx182"/>
          <p:cNvSpPr/>
          <p:nvPr/>
        </p:nvSpPr>
        <p:spPr>
          <a:xfrm>
            <a:off x="6601429" y="369754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sp>
        <p:nvSpPr>
          <p:cNvPr id="183" name="Tx183"/>
          <p:cNvSpPr/>
          <p:nvPr/>
        </p:nvSpPr>
        <p:spPr>
          <a:xfrm>
            <a:off x="5514292" y="381754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700" dirty="0"/>
          </a:p>
        </p:txBody>
      </p:sp>
      <p:sp>
        <p:nvSpPr>
          <p:cNvPr id="184" name="Tx184"/>
          <p:cNvSpPr/>
          <p:nvPr/>
        </p:nvSpPr>
        <p:spPr>
          <a:xfrm>
            <a:off x="5514292" y="411254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Onboarding Agent</a:t>
            </a:r>
            <a:endParaRPr lang="en-US" sz="700" dirty="0"/>
          </a:p>
        </p:txBody>
      </p:sp>
      <p:sp>
        <p:nvSpPr>
          <p:cNvPr id="185" name="Sh185"/>
          <p:cNvSpPr/>
          <p:nvPr/>
        </p:nvSpPr>
        <p:spPr>
          <a:xfrm>
            <a:off x="5514292" y="4342540"/>
            <a:ext cx="1163409" cy="0"/>
          </a:xfrm>
          <a:prstGeom prst="line">
            <a:avLst/>
          </a:prstGeom>
          <a:noFill/>
          <a:ln w="9525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6" name="Tx186"/>
          <p:cNvSpPr/>
          <p:nvPr/>
        </p:nvSpPr>
        <p:spPr>
          <a:xfrm>
            <a:off x="5514292" y="435754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Onboards merchants for POS &amp; BNPL lending — validates GST filings, extracts POS turnover history &amp; assesses credit limit; reduces merchant onboarding from 7 days to same-day decision</a:t>
            </a:r>
            <a:endParaRPr lang="en-US" sz="700" dirty="0"/>
          </a:p>
        </p:txBody>
      </p:sp>
      <p:sp>
        <p:nvSpPr>
          <p:cNvPr id="187" name="Sh187"/>
          <p:cNvSpPr/>
          <p:nvPr/>
        </p:nvSpPr>
        <p:spPr>
          <a:xfrm>
            <a:off x="6764129" y="3657540"/>
            <a:ext cx="1310865" cy="134277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8" name="Tx188"/>
          <p:cNvSpPr/>
          <p:nvPr/>
        </p:nvSpPr>
        <p:spPr>
          <a:xfrm>
            <a:off x="6837857" y="370254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N06</a:t>
            </a:r>
            <a:endParaRPr lang="en-US" sz="700" dirty="0"/>
          </a:p>
        </p:txBody>
      </p:sp>
      <p:sp>
        <p:nvSpPr>
          <p:cNvPr id="189" name="Tx189"/>
          <p:cNvSpPr/>
          <p:nvPr/>
        </p:nvSpPr>
        <p:spPr>
          <a:xfrm>
            <a:off x="7924994" y="369754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700" dirty="0"/>
          </a:p>
        </p:txBody>
      </p:sp>
      <p:sp>
        <p:nvSpPr>
          <p:cNvPr id="190" name="Tx190"/>
          <p:cNvSpPr/>
          <p:nvPr/>
        </p:nvSpPr>
        <p:spPr>
          <a:xfrm>
            <a:off x="6837857" y="381754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700" dirty="0"/>
          </a:p>
        </p:txBody>
      </p:sp>
      <p:sp>
        <p:nvSpPr>
          <p:cNvPr id="191" name="Tx191"/>
          <p:cNvSpPr/>
          <p:nvPr/>
        </p:nvSpPr>
        <p:spPr>
          <a:xfrm>
            <a:off x="6837857" y="411254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Co-lending Coordinator</a:t>
            </a:r>
            <a:endParaRPr lang="en-US" sz="700" dirty="0"/>
          </a:p>
        </p:txBody>
      </p:sp>
      <p:sp>
        <p:nvSpPr>
          <p:cNvPr id="192" name="Sh192"/>
          <p:cNvSpPr/>
          <p:nvPr/>
        </p:nvSpPr>
        <p:spPr>
          <a:xfrm>
            <a:off x="6837857" y="4342540"/>
            <a:ext cx="1163409" cy="0"/>
          </a:xfrm>
          <a:prstGeom prst="line">
            <a:avLst/>
          </a:prstGeom>
          <a:noFill/>
          <a:ln w="9525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3" name="Tx193"/>
          <p:cNvSpPr/>
          <p:nvPr/>
        </p:nvSpPr>
        <p:spPr>
          <a:xfrm>
            <a:off x="6837857" y="435754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bank-NBFC co-lending arrangements — allocates loan tranches per agreed ratios, reconciles interest income split, tracks PSL eligibility &amp; generates standardised MIS for bank partners automatically</a:t>
            </a:r>
            <a:endParaRPr lang="en-US" sz="700" dirty="0"/>
          </a:p>
        </p:txBody>
      </p:sp>
      <p:sp>
        <p:nvSpPr>
          <p:cNvPr id="194" name="Sh194"/>
          <p:cNvSpPr/>
          <p:nvPr/>
        </p:nvSpPr>
        <p:spPr>
          <a:xfrm>
            <a:off x="8087694" y="3657540"/>
            <a:ext cx="1310865" cy="134277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5" name="Tx195"/>
          <p:cNvSpPr/>
          <p:nvPr/>
        </p:nvSpPr>
        <p:spPr>
          <a:xfrm>
            <a:off x="8161422" y="370254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N07</a:t>
            </a:r>
            <a:endParaRPr lang="en-US" sz="700" dirty="0"/>
          </a:p>
        </p:txBody>
      </p:sp>
      <p:sp>
        <p:nvSpPr>
          <p:cNvPr id="196" name="Tx196"/>
          <p:cNvSpPr/>
          <p:nvPr/>
        </p:nvSpPr>
        <p:spPr>
          <a:xfrm>
            <a:off x="9248559" y="369754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sp>
        <p:nvSpPr>
          <p:cNvPr id="197" name="Tx197"/>
          <p:cNvSpPr/>
          <p:nvPr/>
        </p:nvSpPr>
        <p:spPr>
          <a:xfrm>
            <a:off x="8161422" y="381754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</a:t>
            </a:r>
            <a:endParaRPr lang="en-US" sz="700" dirty="0"/>
          </a:p>
        </p:txBody>
      </p:sp>
      <p:sp>
        <p:nvSpPr>
          <p:cNvPr id="198" name="Tx198"/>
          <p:cNvSpPr/>
          <p:nvPr/>
        </p:nvSpPr>
        <p:spPr>
          <a:xfrm>
            <a:off x="8161422" y="411254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FLDG Monitor</a:t>
            </a:r>
            <a:endParaRPr lang="en-US" sz="700" dirty="0"/>
          </a:p>
        </p:txBody>
      </p:sp>
      <p:sp>
        <p:nvSpPr>
          <p:cNvPr id="199" name="Sh199"/>
          <p:cNvSpPr/>
          <p:nvPr/>
        </p:nvSpPr>
        <p:spPr>
          <a:xfrm>
            <a:off x="8161422" y="4342540"/>
            <a:ext cx="1163409" cy="0"/>
          </a:xfrm>
          <a:prstGeom prst="line">
            <a:avLst/>
          </a:prstGeom>
          <a:noFill/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0" name="Tx200"/>
          <p:cNvSpPr/>
          <p:nvPr/>
        </p:nvSpPr>
        <p:spPr>
          <a:xfrm>
            <a:off x="8161422" y="435754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6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Loss Default Guarantee tracking for fintech partnerships — monitors utilisation against agreed cap, triggers replenishment requests &amp; tracks RBI FLDG circular compliance across all lending partners</a:t>
            </a:r>
            <a:endParaRPr lang="en-US" sz="700" dirty="0"/>
          </a:p>
        </p:txBody>
      </p:sp>
      <p:sp>
        <p:nvSpPr>
          <p:cNvPr id="201" name="Sh201"/>
          <p:cNvSpPr/>
          <p:nvPr/>
        </p:nvSpPr>
        <p:spPr>
          <a:xfrm>
            <a:off x="9411259" y="3657540"/>
            <a:ext cx="1310865" cy="134277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2" name="Tx202"/>
          <p:cNvSpPr/>
          <p:nvPr/>
        </p:nvSpPr>
        <p:spPr>
          <a:xfrm>
            <a:off x="9484987" y="370254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N08</a:t>
            </a:r>
            <a:endParaRPr lang="en-US" sz="700" dirty="0"/>
          </a:p>
        </p:txBody>
      </p:sp>
      <p:sp>
        <p:nvSpPr>
          <p:cNvPr id="203" name="Tx203"/>
          <p:cNvSpPr/>
          <p:nvPr/>
        </p:nvSpPr>
        <p:spPr>
          <a:xfrm>
            <a:off x="10572124" y="369754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sp>
        <p:nvSpPr>
          <p:cNvPr id="204" name="Tx204"/>
          <p:cNvSpPr/>
          <p:nvPr/>
        </p:nvSpPr>
        <p:spPr>
          <a:xfrm>
            <a:off x="9484987" y="381754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</a:t>
            </a:r>
            <a:endParaRPr lang="en-US" sz="700" dirty="0"/>
          </a:p>
        </p:txBody>
      </p:sp>
      <p:sp>
        <p:nvSpPr>
          <p:cNvPr id="205" name="Tx205"/>
          <p:cNvSpPr/>
          <p:nvPr/>
        </p:nvSpPr>
        <p:spPr>
          <a:xfrm>
            <a:off x="9484987" y="411254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Securitisation Reporter</a:t>
            </a:r>
            <a:endParaRPr lang="en-US" sz="700" dirty="0"/>
          </a:p>
        </p:txBody>
      </p:sp>
      <p:sp>
        <p:nvSpPr>
          <p:cNvPr id="206" name="Sh206"/>
          <p:cNvSpPr/>
          <p:nvPr/>
        </p:nvSpPr>
        <p:spPr>
          <a:xfrm>
            <a:off x="9484987" y="4342540"/>
            <a:ext cx="1163409" cy="0"/>
          </a:xfrm>
          <a:prstGeom prst="line">
            <a:avLst/>
          </a:prstGeom>
          <a:noFill/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7" name="Tx207"/>
          <p:cNvSpPr/>
          <p:nvPr/>
        </p:nvSpPr>
        <p:spPr>
          <a:xfrm>
            <a:off x="9484987" y="435754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6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pool selection &amp; investor reporting for NBFC securitisations — validates eligibility criteria, calculates weighted average maturity &amp; generates monthly servicer report for PTCs &amp; DA transactions</a:t>
            </a:r>
            <a:endParaRPr lang="en-US" sz="700" dirty="0"/>
          </a:p>
        </p:txBody>
      </p:sp>
      <p:sp>
        <p:nvSpPr>
          <p:cNvPr id="208" name="Sh208"/>
          <p:cNvSpPr/>
          <p:nvPr/>
        </p:nvSpPr>
        <p:spPr>
          <a:xfrm>
            <a:off x="10734824" y="3657540"/>
            <a:ext cx="1310865" cy="134277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9" name="Tx209"/>
          <p:cNvSpPr/>
          <p:nvPr/>
        </p:nvSpPr>
        <p:spPr>
          <a:xfrm>
            <a:off x="10808552" y="370254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N09</a:t>
            </a:r>
            <a:endParaRPr lang="en-US" sz="700" dirty="0"/>
          </a:p>
        </p:txBody>
      </p:sp>
      <p:sp>
        <p:nvSpPr>
          <p:cNvPr id="210" name="Tx210"/>
          <p:cNvSpPr/>
          <p:nvPr/>
        </p:nvSpPr>
        <p:spPr>
          <a:xfrm>
            <a:off x="11895689" y="369754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700" dirty="0"/>
          </a:p>
        </p:txBody>
      </p:sp>
      <p:sp>
        <p:nvSpPr>
          <p:cNvPr id="211" name="Tx211"/>
          <p:cNvSpPr/>
          <p:nvPr/>
        </p:nvSpPr>
        <p:spPr>
          <a:xfrm>
            <a:off x="10808552" y="381754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en-US" sz="700" dirty="0"/>
          </a:p>
        </p:txBody>
      </p:sp>
      <p:sp>
        <p:nvSpPr>
          <p:cNvPr id="212" name="Tx212"/>
          <p:cNvSpPr/>
          <p:nvPr/>
        </p:nvSpPr>
        <p:spPr>
          <a:xfrm>
            <a:off x="10808552" y="411254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Compliance Reporter</a:t>
            </a:r>
            <a:endParaRPr lang="en-US" sz="700" dirty="0"/>
          </a:p>
        </p:txBody>
      </p:sp>
      <p:sp>
        <p:nvSpPr>
          <p:cNvPr id="213" name="Sh213"/>
          <p:cNvSpPr/>
          <p:nvPr/>
        </p:nvSpPr>
        <p:spPr>
          <a:xfrm>
            <a:off x="10808552" y="4342540"/>
            <a:ext cx="1163409" cy="0"/>
          </a:xfrm>
          <a:prstGeom prst="line">
            <a:avLst/>
          </a:prstGeom>
          <a:noFill/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4" name="Tx214"/>
          <p:cNvSpPr/>
          <p:nvPr/>
        </p:nvSpPr>
        <p:spPr>
          <a:xfrm>
            <a:off x="10808552" y="435754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6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RBI regulatory returns for NBFCs — NBS-1, NBS-2, NBS-7 &amp; DNBS forms; extracts from core system, validates against RBI formats &amp; tracks submission deadlines across all mandatory filings</a:t>
            </a:r>
            <a:endParaRPr lang="en-US" sz="700" dirty="0"/>
          </a:p>
        </p:txBody>
      </p:sp>
      <p:sp>
        <p:nvSpPr>
          <p:cNvPr id="215" name="Sh215"/>
          <p:cNvSpPr/>
          <p:nvPr/>
        </p:nvSpPr>
        <p:spPr>
          <a:xfrm>
            <a:off x="146304" y="5012310"/>
            <a:ext cx="1310865" cy="1342770"/>
          </a:xfrm>
          <a:prstGeom prst="rect">
            <a:avLst/>
          </a:prstGeom>
          <a:solidFill>
            <a:srgbClr val="F3E8FF"/>
          </a:solidFill>
          <a:ln w="1270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6" name="Tx216"/>
          <p:cNvSpPr/>
          <p:nvPr/>
        </p:nvSpPr>
        <p:spPr>
          <a:xfrm>
            <a:off x="220032" y="505731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</a:t>
            </a:r>
            <a:endParaRPr lang="en-US" sz="700" dirty="0"/>
          </a:p>
        </p:txBody>
      </p:sp>
      <p:sp>
        <p:nvSpPr>
          <p:cNvPr id="217" name="Tx217"/>
          <p:cNvSpPr/>
          <p:nvPr/>
        </p:nvSpPr>
        <p:spPr>
          <a:xfrm>
            <a:off x="1307169" y="505231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700" dirty="0"/>
          </a:p>
        </p:txBody>
      </p:sp>
      <p:sp>
        <p:nvSpPr>
          <p:cNvPr id="218" name="Tx218"/>
          <p:cNvSpPr/>
          <p:nvPr/>
        </p:nvSpPr>
        <p:spPr>
          <a:xfrm>
            <a:off x="220032" y="517231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700" dirty="0"/>
          </a:p>
        </p:txBody>
      </p:sp>
      <p:sp>
        <p:nvSpPr>
          <p:cNvPr id="219" name="Tx219"/>
          <p:cNvSpPr/>
          <p:nvPr/>
        </p:nvSpPr>
        <p:spPr>
          <a:xfrm>
            <a:off x="220032" y="546731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Calling Agent</a:t>
            </a:r>
            <a:endParaRPr lang="en-US" sz="700" dirty="0"/>
          </a:p>
        </p:txBody>
      </p:sp>
      <p:sp>
        <p:nvSpPr>
          <p:cNvPr id="220" name="Sh220"/>
          <p:cNvSpPr/>
          <p:nvPr/>
        </p:nvSpPr>
        <p:spPr>
          <a:xfrm>
            <a:off x="220032" y="5697310"/>
            <a:ext cx="1163409" cy="0"/>
          </a:xfrm>
          <a:prstGeom prst="line">
            <a:avLst/>
          </a:prstGeom>
          <a:noFill/>
          <a:ln w="9525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1" name="Tx221"/>
          <p:cNvSpPr/>
          <p:nvPr/>
        </p:nvSpPr>
        <p:spPr>
          <a:xfrm>
            <a:off x="220032" y="571231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581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agent for early-stage collections — calls DPD 1-30 borrowers in regional languages, captures promise-to-pay, plays back instalment details &amp; escalates to human collector if unresolved in 2 min</a:t>
            </a:r>
            <a:endParaRPr lang="en-US" sz="700" dirty="0"/>
          </a:p>
        </p:txBody>
      </p:sp>
      <p:sp>
        <p:nvSpPr>
          <p:cNvPr id="222" name="Sh222"/>
          <p:cNvSpPr/>
          <p:nvPr/>
        </p:nvSpPr>
        <p:spPr>
          <a:xfrm>
            <a:off x="1469869" y="5012310"/>
            <a:ext cx="1310865" cy="1342770"/>
          </a:xfrm>
          <a:prstGeom prst="rect">
            <a:avLst/>
          </a:prstGeom>
          <a:solidFill>
            <a:srgbClr val="F3E8FF"/>
          </a:solidFill>
          <a:ln w="1270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3" name="Tx223"/>
          <p:cNvSpPr/>
          <p:nvPr/>
        </p:nvSpPr>
        <p:spPr>
          <a:xfrm>
            <a:off x="1543597" y="505731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N11</a:t>
            </a:r>
            <a:endParaRPr lang="en-US" sz="700" dirty="0"/>
          </a:p>
        </p:txBody>
      </p:sp>
      <p:sp>
        <p:nvSpPr>
          <p:cNvPr id="224" name="Tx224"/>
          <p:cNvSpPr/>
          <p:nvPr/>
        </p:nvSpPr>
        <p:spPr>
          <a:xfrm>
            <a:off x="2630734" y="505231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sp>
        <p:nvSpPr>
          <p:cNvPr id="225" name="Tx225"/>
          <p:cNvSpPr/>
          <p:nvPr/>
        </p:nvSpPr>
        <p:spPr>
          <a:xfrm>
            <a:off x="1543597" y="517231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</a:t>
            </a:r>
            <a:endParaRPr lang="en-US" sz="700" dirty="0"/>
          </a:p>
        </p:txBody>
      </p:sp>
      <p:sp>
        <p:nvSpPr>
          <p:cNvPr id="226" name="Tx226"/>
          <p:cNvSpPr/>
          <p:nvPr/>
        </p:nvSpPr>
        <p:spPr>
          <a:xfrm>
            <a:off x="1543597" y="546731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Reminder Bot</a:t>
            </a:r>
            <a:endParaRPr lang="en-US" sz="700" dirty="0"/>
          </a:p>
        </p:txBody>
      </p:sp>
      <p:sp>
        <p:nvSpPr>
          <p:cNvPr id="227" name="Sh227"/>
          <p:cNvSpPr/>
          <p:nvPr/>
        </p:nvSpPr>
        <p:spPr>
          <a:xfrm>
            <a:off x="1543597" y="5697310"/>
            <a:ext cx="1163409" cy="0"/>
          </a:xfrm>
          <a:prstGeom prst="line">
            <a:avLst/>
          </a:prstGeom>
          <a:noFill/>
          <a:ln w="9525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8" name="Tx228"/>
          <p:cNvSpPr/>
          <p:nvPr/>
        </p:nvSpPr>
        <p:spPr>
          <a:xfrm>
            <a:off x="1543597" y="571231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581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multi-channel repayment nudges — sends personalised WhatsApp, SMS &amp; IVR reminders 3/2/1 day before due date; tracks open rates, deflects NACH failure &amp; reduces DPD roll rate by 18%</a:t>
            </a:r>
            <a:endParaRPr lang="en-US" sz="700" dirty="0"/>
          </a:p>
        </p:txBody>
      </p:sp>
      <p:sp>
        <p:nvSpPr>
          <p:cNvPr id="229" name="Sh229"/>
          <p:cNvSpPr/>
          <p:nvPr/>
        </p:nvSpPr>
        <p:spPr>
          <a:xfrm>
            <a:off x="2793434" y="5012310"/>
            <a:ext cx="1310865" cy="1342770"/>
          </a:xfrm>
          <a:prstGeom prst="rect">
            <a:avLst/>
          </a:prstGeom>
          <a:solidFill>
            <a:srgbClr val="F3E8FF"/>
          </a:solidFill>
          <a:ln w="1270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0" name="Tx230"/>
          <p:cNvSpPr/>
          <p:nvPr/>
        </p:nvSpPr>
        <p:spPr>
          <a:xfrm>
            <a:off x="2867162" y="505731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N12</a:t>
            </a:r>
            <a:endParaRPr lang="en-US" sz="700" dirty="0"/>
          </a:p>
        </p:txBody>
      </p:sp>
      <p:sp>
        <p:nvSpPr>
          <p:cNvPr id="231" name="Tx231"/>
          <p:cNvSpPr/>
          <p:nvPr/>
        </p:nvSpPr>
        <p:spPr>
          <a:xfrm>
            <a:off x="3954299" y="505231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700" dirty="0"/>
          </a:p>
        </p:txBody>
      </p:sp>
      <p:sp>
        <p:nvSpPr>
          <p:cNvPr id="232" name="Tx232"/>
          <p:cNvSpPr/>
          <p:nvPr/>
        </p:nvSpPr>
        <p:spPr>
          <a:xfrm>
            <a:off x="2867162" y="517231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</a:t>
            </a:r>
            <a:endParaRPr lang="en-US" sz="700" dirty="0"/>
          </a:p>
        </p:txBody>
      </p:sp>
      <p:sp>
        <p:nvSpPr>
          <p:cNvPr id="233" name="Tx233"/>
          <p:cNvSpPr/>
          <p:nvPr/>
        </p:nvSpPr>
        <p:spPr>
          <a:xfrm>
            <a:off x="2867162" y="546731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Signal Agent</a:t>
            </a:r>
            <a:endParaRPr lang="en-US" sz="700" dirty="0"/>
          </a:p>
        </p:txBody>
      </p:sp>
      <p:sp>
        <p:nvSpPr>
          <p:cNvPr id="234" name="Sh234"/>
          <p:cNvSpPr/>
          <p:nvPr/>
        </p:nvSpPr>
        <p:spPr>
          <a:xfrm>
            <a:off x="2867162" y="5697310"/>
            <a:ext cx="1163409" cy="0"/>
          </a:xfrm>
          <a:prstGeom prst="line">
            <a:avLst/>
          </a:prstGeom>
          <a:noFill/>
          <a:ln w="9525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5" name="Tx235"/>
          <p:cNvSpPr/>
          <p:nvPr/>
        </p:nvSpPr>
        <p:spPr>
          <a:xfrm>
            <a:off x="2867162" y="571231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581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portfolio stress monitoring — tracks 40+ EWS indicators including cheque bounces, GST filing gaps &amp; sector downturns; flags accounts for pre-NPA intervention 90 days before slippage</a:t>
            </a:r>
            <a:endParaRPr lang="en-US" sz="700" dirty="0"/>
          </a:p>
        </p:txBody>
      </p:sp>
      <p:sp>
        <p:nvSpPr>
          <p:cNvPr id="236" name="Sh236"/>
          <p:cNvSpPr/>
          <p:nvPr/>
        </p:nvSpPr>
        <p:spPr>
          <a:xfrm>
            <a:off x="4116999" y="5012310"/>
            <a:ext cx="1310865" cy="1342770"/>
          </a:xfrm>
          <a:prstGeom prst="rect">
            <a:avLst/>
          </a:prstGeom>
          <a:solidFill>
            <a:srgbClr val="FCE7F3"/>
          </a:solidFill>
          <a:ln w="12700">
            <a:solidFill>
              <a:srgbClr val="F9A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7" name="Tx237"/>
          <p:cNvSpPr/>
          <p:nvPr/>
        </p:nvSpPr>
        <p:spPr>
          <a:xfrm>
            <a:off x="4190727" y="505731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N13</a:t>
            </a:r>
            <a:endParaRPr lang="en-US" sz="700" dirty="0"/>
          </a:p>
        </p:txBody>
      </p:sp>
      <p:sp>
        <p:nvSpPr>
          <p:cNvPr id="238" name="Tx238"/>
          <p:cNvSpPr/>
          <p:nvPr/>
        </p:nvSpPr>
        <p:spPr>
          <a:xfrm>
            <a:off x="5277864" y="505231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sp>
        <p:nvSpPr>
          <p:cNvPr id="239" name="Tx239"/>
          <p:cNvSpPr/>
          <p:nvPr/>
        </p:nvSpPr>
        <p:spPr>
          <a:xfrm>
            <a:off x="4190727" y="517231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</a:t>
            </a:r>
            <a:endParaRPr lang="en-US" sz="700" dirty="0"/>
          </a:p>
        </p:txBody>
      </p:sp>
      <p:sp>
        <p:nvSpPr>
          <p:cNvPr id="240" name="Tx240"/>
          <p:cNvSpPr/>
          <p:nvPr/>
        </p:nvSpPr>
        <p:spPr>
          <a:xfrm>
            <a:off x="4190727" y="546731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Risk Profiler</a:t>
            </a:r>
            <a:endParaRPr lang="en-US" sz="700" dirty="0"/>
          </a:p>
        </p:txBody>
      </p:sp>
      <p:sp>
        <p:nvSpPr>
          <p:cNvPr id="241" name="Sh241"/>
          <p:cNvSpPr/>
          <p:nvPr/>
        </p:nvSpPr>
        <p:spPr>
          <a:xfrm>
            <a:off x="4190727" y="5697310"/>
            <a:ext cx="1163409" cy="0"/>
          </a:xfrm>
          <a:prstGeom prst="line">
            <a:avLst/>
          </a:prstGeom>
          <a:noFill/>
          <a:ln w="9525">
            <a:solidFill>
              <a:srgbClr val="F9A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2" name="Tx242"/>
          <p:cNvSpPr/>
          <p:nvPr/>
        </p:nvSpPr>
        <p:spPr>
          <a:xfrm>
            <a:off x="4190727" y="571231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831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borrower risk profiling beyond static bureau — integrates UPI transaction patterns, social media business signals &amp; industry-level stress data; updates risk tier monthly to trigger proactive review</a:t>
            </a:r>
            <a:endParaRPr lang="en-US" sz="700" dirty="0"/>
          </a:p>
        </p:txBody>
      </p:sp>
      <p:sp>
        <p:nvSpPr>
          <p:cNvPr id="243" name="Sh243"/>
          <p:cNvSpPr/>
          <p:nvPr/>
        </p:nvSpPr>
        <p:spPr>
          <a:xfrm>
            <a:off x="5440564" y="5012310"/>
            <a:ext cx="1310865" cy="1342770"/>
          </a:xfrm>
          <a:prstGeom prst="rect">
            <a:avLst/>
          </a:prstGeom>
          <a:solidFill>
            <a:srgbClr val="FCE7F3"/>
          </a:solidFill>
          <a:ln w="12700">
            <a:solidFill>
              <a:srgbClr val="F9A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4" name="Tx244"/>
          <p:cNvSpPr/>
          <p:nvPr/>
        </p:nvSpPr>
        <p:spPr>
          <a:xfrm>
            <a:off x="5514292" y="505731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N14</a:t>
            </a:r>
            <a:endParaRPr lang="en-US" sz="700" dirty="0"/>
          </a:p>
        </p:txBody>
      </p:sp>
      <p:sp>
        <p:nvSpPr>
          <p:cNvPr id="245" name="Tx245"/>
          <p:cNvSpPr/>
          <p:nvPr/>
        </p:nvSpPr>
        <p:spPr>
          <a:xfrm>
            <a:off x="6601429" y="505231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sp>
        <p:nvSpPr>
          <p:cNvPr id="246" name="Tx246"/>
          <p:cNvSpPr/>
          <p:nvPr/>
        </p:nvSpPr>
        <p:spPr>
          <a:xfrm>
            <a:off x="5514292" y="517231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700" dirty="0"/>
          </a:p>
        </p:txBody>
      </p:sp>
      <p:sp>
        <p:nvSpPr>
          <p:cNvPr id="247" name="Tx247"/>
          <p:cNvSpPr/>
          <p:nvPr/>
        </p:nvSpPr>
        <p:spPr>
          <a:xfrm>
            <a:off x="5514292" y="546731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Restructuring Advisor</a:t>
            </a:r>
            <a:endParaRPr lang="en-US" sz="700" dirty="0"/>
          </a:p>
        </p:txBody>
      </p:sp>
      <p:sp>
        <p:nvSpPr>
          <p:cNvPr id="248" name="Sh248"/>
          <p:cNvSpPr/>
          <p:nvPr/>
        </p:nvSpPr>
        <p:spPr>
          <a:xfrm>
            <a:off x="5514292" y="5697310"/>
            <a:ext cx="1163409" cy="0"/>
          </a:xfrm>
          <a:prstGeom prst="line">
            <a:avLst/>
          </a:prstGeom>
          <a:noFill/>
          <a:ln w="9525">
            <a:solidFill>
              <a:srgbClr val="F9A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9" name="Tx249"/>
          <p:cNvSpPr/>
          <p:nvPr/>
        </p:nvSpPr>
        <p:spPr>
          <a:xfrm>
            <a:off x="5514292" y="571231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831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restructuring eligibility under RBI OTR/ECLGS frameworks — models revised EMI scenarios, calculates NPA impact &amp; generates restructuring proposal with board note for credit committee approval</a:t>
            </a:r>
            <a:endParaRPr lang="en-US" sz="700" dirty="0"/>
          </a:p>
        </p:txBody>
      </p:sp>
      <p:sp>
        <p:nvSpPr>
          <p:cNvPr id="250" name="Sh250"/>
          <p:cNvSpPr/>
          <p:nvPr/>
        </p:nvSpPr>
        <p:spPr>
          <a:xfrm>
            <a:off x="6764129" y="5012310"/>
            <a:ext cx="1310865" cy="1342770"/>
          </a:xfrm>
          <a:prstGeom prst="rect">
            <a:avLst/>
          </a:prstGeom>
          <a:solidFill>
            <a:srgbClr val="FCE7F3"/>
          </a:solidFill>
          <a:ln w="12700">
            <a:solidFill>
              <a:srgbClr val="F9A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1" name="Tx251"/>
          <p:cNvSpPr/>
          <p:nvPr/>
        </p:nvSpPr>
        <p:spPr>
          <a:xfrm>
            <a:off x="6837857" y="505731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N15</a:t>
            </a:r>
            <a:endParaRPr lang="en-US" sz="700" dirty="0"/>
          </a:p>
        </p:txBody>
      </p:sp>
      <p:sp>
        <p:nvSpPr>
          <p:cNvPr id="252" name="Tx252"/>
          <p:cNvSpPr/>
          <p:nvPr/>
        </p:nvSpPr>
        <p:spPr>
          <a:xfrm>
            <a:off x="7924994" y="505231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sp>
        <p:nvSpPr>
          <p:cNvPr id="253" name="Tx253"/>
          <p:cNvSpPr/>
          <p:nvPr/>
        </p:nvSpPr>
        <p:spPr>
          <a:xfrm>
            <a:off x="6837857" y="517231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700" dirty="0"/>
          </a:p>
        </p:txBody>
      </p:sp>
      <p:sp>
        <p:nvSpPr>
          <p:cNvPr id="254" name="Tx254"/>
          <p:cNvSpPr/>
          <p:nvPr/>
        </p:nvSpPr>
        <p:spPr>
          <a:xfrm>
            <a:off x="6837857" y="546731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Disbursement Tracker</a:t>
            </a:r>
            <a:endParaRPr lang="en-US" sz="700" dirty="0"/>
          </a:p>
        </p:txBody>
      </p:sp>
      <p:sp>
        <p:nvSpPr>
          <p:cNvPr id="255" name="Sh255"/>
          <p:cNvSpPr/>
          <p:nvPr/>
        </p:nvSpPr>
        <p:spPr>
          <a:xfrm>
            <a:off x="6837857" y="5697310"/>
            <a:ext cx="1163409" cy="0"/>
          </a:xfrm>
          <a:prstGeom prst="line">
            <a:avLst/>
          </a:prstGeom>
          <a:noFill/>
          <a:ln w="9525">
            <a:solidFill>
              <a:srgbClr val="F9A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6" name="Tx256"/>
          <p:cNvSpPr/>
          <p:nvPr/>
        </p:nvSpPr>
        <p:spPr>
          <a:xfrm>
            <a:off x="6837857" y="571231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831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loan disbursement monitoring — verifies bank account validation, NACH mandate registration &amp; end-use documentation before releasing funds; flags disbursement-to-utilisation gaps for field review</a:t>
            </a:r>
            <a:endParaRPr lang="en-US" sz="700" dirty="0"/>
          </a:p>
        </p:txBody>
      </p:sp>
      <p:sp>
        <p:nvSpPr>
          <p:cNvPr id="257" name="Sh257"/>
          <p:cNvSpPr/>
          <p:nvPr/>
        </p:nvSpPr>
        <p:spPr>
          <a:xfrm>
            <a:off x="8087694" y="5012310"/>
            <a:ext cx="1310865" cy="1342770"/>
          </a:xfrm>
          <a:prstGeom prst="rect">
            <a:avLst/>
          </a:prstGeom>
          <a:solidFill>
            <a:srgbClr val="FCE7F3"/>
          </a:solidFill>
          <a:ln w="12700">
            <a:solidFill>
              <a:srgbClr val="F9A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8" name="Tx258"/>
          <p:cNvSpPr/>
          <p:nvPr/>
        </p:nvSpPr>
        <p:spPr>
          <a:xfrm>
            <a:off x="8161422" y="505731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N16</a:t>
            </a:r>
            <a:endParaRPr lang="en-US" sz="700" dirty="0"/>
          </a:p>
        </p:txBody>
      </p:sp>
      <p:sp>
        <p:nvSpPr>
          <p:cNvPr id="259" name="Tx259"/>
          <p:cNvSpPr/>
          <p:nvPr/>
        </p:nvSpPr>
        <p:spPr>
          <a:xfrm>
            <a:off x="9248559" y="505231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sp>
        <p:nvSpPr>
          <p:cNvPr id="260" name="Tx260"/>
          <p:cNvSpPr/>
          <p:nvPr/>
        </p:nvSpPr>
        <p:spPr>
          <a:xfrm>
            <a:off x="8161422" y="517231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</a:t>
            </a:r>
            <a:endParaRPr lang="en-US" sz="700" dirty="0"/>
          </a:p>
        </p:txBody>
      </p:sp>
      <p:sp>
        <p:nvSpPr>
          <p:cNvPr id="261" name="Tx261"/>
          <p:cNvSpPr/>
          <p:nvPr/>
        </p:nvSpPr>
        <p:spPr>
          <a:xfrm>
            <a:off x="8161422" y="546731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Bureau Reconciler</a:t>
            </a:r>
            <a:endParaRPr lang="en-US" sz="700" dirty="0"/>
          </a:p>
        </p:txBody>
      </p:sp>
      <p:sp>
        <p:nvSpPr>
          <p:cNvPr id="262" name="Sh262"/>
          <p:cNvSpPr/>
          <p:nvPr/>
        </p:nvSpPr>
        <p:spPr>
          <a:xfrm>
            <a:off x="8161422" y="5697310"/>
            <a:ext cx="1163409" cy="0"/>
          </a:xfrm>
          <a:prstGeom prst="line">
            <a:avLst/>
          </a:prstGeom>
          <a:noFill/>
          <a:ln w="9525">
            <a:solidFill>
              <a:srgbClr val="F9A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3" name="Tx263"/>
          <p:cNvSpPr/>
          <p:nvPr/>
        </p:nvSpPr>
        <p:spPr>
          <a:xfrm>
            <a:off x="8161422" y="571231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831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CIBIL/Equifax bureau reporting reconciliation — matches NPA tagging, DPD records &amp; closure updates between core system &amp; bureau; resolves disputes and files corrections with bureau monthly</a:t>
            </a:r>
            <a:endParaRPr lang="en-US" sz="700" dirty="0"/>
          </a:p>
        </p:txBody>
      </p:sp>
      <p:sp>
        <p:nvSpPr>
          <p:cNvPr id="264" name="Sh264"/>
          <p:cNvSpPr/>
          <p:nvPr/>
        </p:nvSpPr>
        <p:spPr>
          <a:xfrm>
            <a:off x="9411259" y="5012310"/>
            <a:ext cx="1310865" cy="1342770"/>
          </a:xfrm>
          <a:prstGeom prst="rect">
            <a:avLst/>
          </a:prstGeom>
          <a:solidFill>
            <a:srgbClr val="FCE7F3"/>
          </a:solidFill>
          <a:ln w="12700">
            <a:solidFill>
              <a:srgbClr val="F9A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5" name="Tx265"/>
          <p:cNvSpPr/>
          <p:nvPr/>
        </p:nvSpPr>
        <p:spPr>
          <a:xfrm>
            <a:off x="9484987" y="505731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N17</a:t>
            </a:r>
            <a:endParaRPr lang="en-US" sz="700" dirty="0"/>
          </a:p>
        </p:txBody>
      </p:sp>
      <p:sp>
        <p:nvSpPr>
          <p:cNvPr id="266" name="Tx266"/>
          <p:cNvSpPr/>
          <p:nvPr/>
        </p:nvSpPr>
        <p:spPr>
          <a:xfrm>
            <a:off x="10572124" y="505231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sp>
        <p:nvSpPr>
          <p:cNvPr id="267" name="Tx267"/>
          <p:cNvSpPr/>
          <p:nvPr/>
        </p:nvSpPr>
        <p:spPr>
          <a:xfrm>
            <a:off x="9484987" y="517231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</a:t>
            </a:r>
            <a:endParaRPr lang="en-US" sz="700" dirty="0"/>
          </a:p>
        </p:txBody>
      </p:sp>
      <p:sp>
        <p:nvSpPr>
          <p:cNvPr id="268" name="Tx268"/>
          <p:cNvSpPr/>
          <p:nvPr/>
        </p:nvSpPr>
        <p:spPr>
          <a:xfrm>
            <a:off x="9484987" y="546731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Partner Reconciler</a:t>
            </a:r>
            <a:endParaRPr lang="en-US" sz="700" dirty="0"/>
          </a:p>
        </p:txBody>
      </p:sp>
      <p:sp>
        <p:nvSpPr>
          <p:cNvPr id="269" name="Sh269"/>
          <p:cNvSpPr/>
          <p:nvPr/>
        </p:nvSpPr>
        <p:spPr>
          <a:xfrm>
            <a:off x="9484987" y="5697310"/>
            <a:ext cx="1163409" cy="0"/>
          </a:xfrm>
          <a:prstGeom prst="line">
            <a:avLst/>
          </a:prstGeom>
          <a:noFill/>
          <a:ln w="9525">
            <a:solidFill>
              <a:srgbClr val="F9A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0" name="Tx270"/>
          <p:cNvSpPr/>
          <p:nvPr/>
        </p:nvSpPr>
        <p:spPr>
          <a:xfrm>
            <a:off x="9484987" y="571231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831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Reconciles DSA &amp; BC partner performance — tracks lead conversion, disbursement commission payouts &amp; fraud referral rates per partner; flags underperforming channels &amp; computes monthly incentive statements</a:t>
            </a:r>
            <a:endParaRPr lang="en-US" sz="700" dirty="0"/>
          </a:p>
        </p:txBody>
      </p:sp>
      <p:sp>
        <p:nvSpPr>
          <p:cNvPr id="271" name="Sh271"/>
          <p:cNvSpPr/>
          <p:nvPr/>
        </p:nvSpPr>
        <p:spPr>
          <a:xfrm>
            <a:off x="10734824" y="5012310"/>
            <a:ext cx="1310865" cy="1342770"/>
          </a:xfrm>
          <a:prstGeom prst="rect">
            <a:avLst/>
          </a:prstGeom>
          <a:solidFill>
            <a:srgbClr val="FCE7F3"/>
          </a:solidFill>
          <a:ln w="12700">
            <a:solidFill>
              <a:srgbClr val="F9A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2" name="Tx272"/>
          <p:cNvSpPr/>
          <p:nvPr/>
        </p:nvSpPr>
        <p:spPr>
          <a:xfrm>
            <a:off x="10808552" y="505731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N18</a:t>
            </a:r>
            <a:endParaRPr lang="en-US" sz="700" dirty="0"/>
          </a:p>
        </p:txBody>
      </p:sp>
      <p:sp>
        <p:nvSpPr>
          <p:cNvPr id="273" name="Tx273"/>
          <p:cNvSpPr/>
          <p:nvPr/>
        </p:nvSpPr>
        <p:spPr>
          <a:xfrm>
            <a:off x="11895689" y="5052310"/>
            <a:ext cx="14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700" dirty="0"/>
          </a:p>
        </p:txBody>
      </p:sp>
      <p:sp>
        <p:nvSpPr>
          <p:cNvPr id="274" name="Tx274"/>
          <p:cNvSpPr/>
          <p:nvPr/>
        </p:nvSpPr>
        <p:spPr>
          <a:xfrm>
            <a:off x="10808552" y="5172310"/>
            <a:ext cx="120713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700" dirty="0"/>
          </a:p>
        </p:txBody>
      </p:sp>
      <p:sp>
        <p:nvSpPr>
          <p:cNvPr id="275" name="Tx275"/>
          <p:cNvSpPr/>
          <p:nvPr/>
        </p:nvSpPr>
        <p:spPr>
          <a:xfrm>
            <a:off x="10808552" y="5467310"/>
            <a:ext cx="1207137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at Risk Monitor</a:t>
            </a:r>
            <a:endParaRPr lang="en-US" sz="700" dirty="0"/>
          </a:p>
        </p:txBody>
      </p:sp>
      <p:sp>
        <p:nvSpPr>
          <p:cNvPr id="276" name="Sh276"/>
          <p:cNvSpPr/>
          <p:nvPr/>
        </p:nvSpPr>
        <p:spPr>
          <a:xfrm>
            <a:off x="10808552" y="5697310"/>
            <a:ext cx="1163409" cy="0"/>
          </a:xfrm>
          <a:prstGeom prst="line">
            <a:avLst/>
          </a:prstGeom>
          <a:noFill/>
          <a:ln w="9525">
            <a:solidFill>
              <a:srgbClr val="F9A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7" name="Tx277"/>
          <p:cNvSpPr/>
          <p:nvPr/>
        </p:nvSpPr>
        <p:spPr>
          <a:xfrm>
            <a:off x="10808552" y="5712310"/>
            <a:ext cx="1207137" cy="6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831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PAR tracking across product, geography &amp; vintage — monitors PAR 30/60/90 with cohort analysis; alerts ALCO when concentration in a segment breaches policy limits with drill-down to borrower level</a:t>
            </a:r>
            <a:endParaRPr lang="en-US" sz="700" dirty="0"/>
          </a:p>
        </p:txBody>
      </p:sp>
      <p:sp>
        <p:nvSpPr>
          <p:cNvPr id="278" name="Tx278"/>
          <p:cNvSpPr/>
          <p:nvPr/>
        </p:nvSpPr>
        <p:spPr>
          <a:xfrm>
            <a:off x="146304" y="6355080"/>
            <a:ext cx="198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700" dirty="0"/>
          </a:p>
        </p:txBody>
      </p:sp>
      <p:sp>
        <p:nvSpPr>
          <p:cNvPr id="279" name="Tx279"/>
          <p:cNvSpPr/>
          <p:nvPr/>
        </p:nvSpPr>
        <p:spPr>
          <a:xfrm>
            <a:off x="146304" y="6625080"/>
            <a:ext cx="198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Agents</a:t>
            </a:r>
            <a:endParaRPr lang="en-US" sz="700" dirty="0"/>
          </a:p>
        </p:txBody>
      </p:sp>
      <p:sp>
        <p:nvSpPr>
          <p:cNvPr id="280" name="Sh280"/>
          <p:cNvSpPr/>
          <p:nvPr/>
        </p:nvSpPr>
        <p:spPr>
          <a:xfrm>
            <a:off x="2129536" y="6335080"/>
            <a:ext cx="0" cy="310896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1" name="Tx281"/>
          <p:cNvSpPr/>
          <p:nvPr/>
        </p:nvSpPr>
        <p:spPr>
          <a:xfrm>
            <a:off x="2129536" y="6355080"/>
            <a:ext cx="198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282" name="Tx282"/>
          <p:cNvSpPr/>
          <p:nvPr/>
        </p:nvSpPr>
        <p:spPr>
          <a:xfrm>
            <a:off x="2129536" y="6625080"/>
            <a:ext cx="198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Sectors</a:t>
            </a:r>
            <a:endParaRPr lang="en-US" sz="700" dirty="0"/>
          </a:p>
        </p:txBody>
      </p:sp>
      <p:sp>
        <p:nvSpPr>
          <p:cNvPr id="283" name="Sh283"/>
          <p:cNvSpPr/>
          <p:nvPr/>
        </p:nvSpPr>
        <p:spPr>
          <a:xfrm>
            <a:off x="4112768" y="6335080"/>
            <a:ext cx="0" cy="310896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4" name="Tx284"/>
          <p:cNvSpPr/>
          <p:nvPr/>
        </p:nvSpPr>
        <p:spPr>
          <a:xfrm>
            <a:off x="4112768" y="6355080"/>
            <a:ext cx="198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285" name="Tx285"/>
          <p:cNvSpPr/>
          <p:nvPr/>
        </p:nvSpPr>
        <p:spPr>
          <a:xfrm>
            <a:off x="4112768" y="6625080"/>
            <a:ext cx="198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Sub-Domains</a:t>
            </a:r>
            <a:endParaRPr lang="en-US" sz="700" dirty="0"/>
          </a:p>
        </p:txBody>
      </p:sp>
      <p:sp>
        <p:nvSpPr>
          <p:cNvPr id="286" name="Sh286"/>
          <p:cNvSpPr/>
          <p:nvPr/>
        </p:nvSpPr>
        <p:spPr>
          <a:xfrm>
            <a:off x="6096000" y="6335080"/>
            <a:ext cx="0" cy="310896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7" name="Tx287"/>
          <p:cNvSpPr/>
          <p:nvPr/>
        </p:nvSpPr>
        <p:spPr>
          <a:xfrm>
            <a:off x="6096000" y="6355080"/>
            <a:ext cx="198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  <p:sp>
        <p:nvSpPr>
          <p:cNvPr id="288" name="Tx288"/>
          <p:cNvSpPr/>
          <p:nvPr/>
        </p:nvSpPr>
        <p:spPr>
          <a:xfrm>
            <a:off x="6096000" y="6625080"/>
            <a:ext cx="198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★</a:t>
            </a:r>
            <a:endParaRPr lang="en-US" sz="700" dirty="0"/>
          </a:p>
        </p:txBody>
      </p:sp>
      <p:sp>
        <p:nvSpPr>
          <p:cNvPr id="289" name="Sh289"/>
          <p:cNvSpPr/>
          <p:nvPr/>
        </p:nvSpPr>
        <p:spPr>
          <a:xfrm>
            <a:off x="8079232" y="6335080"/>
            <a:ext cx="0" cy="310896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0" name="Tx290"/>
          <p:cNvSpPr/>
          <p:nvPr/>
        </p:nvSpPr>
        <p:spPr>
          <a:xfrm>
            <a:off x="8079232" y="6355080"/>
            <a:ext cx="198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00" dirty="0"/>
          </a:p>
        </p:txBody>
      </p:sp>
      <p:sp>
        <p:nvSpPr>
          <p:cNvPr id="291" name="Tx291"/>
          <p:cNvSpPr/>
          <p:nvPr/>
        </p:nvSpPr>
        <p:spPr>
          <a:xfrm>
            <a:off x="8079232" y="6625080"/>
            <a:ext cx="198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700" dirty="0"/>
          </a:p>
        </p:txBody>
      </p:sp>
      <p:sp>
        <p:nvSpPr>
          <p:cNvPr id="292" name="Sh292"/>
          <p:cNvSpPr/>
          <p:nvPr/>
        </p:nvSpPr>
        <p:spPr>
          <a:xfrm>
            <a:off x="10062464" y="6335080"/>
            <a:ext cx="0" cy="310896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3" name="Tx293"/>
          <p:cNvSpPr/>
          <p:nvPr/>
        </p:nvSpPr>
        <p:spPr>
          <a:xfrm>
            <a:off x="10062464" y="6355080"/>
            <a:ext cx="198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00" dirty="0"/>
          </a:p>
        </p:txBody>
      </p:sp>
      <p:sp>
        <p:nvSpPr>
          <p:cNvPr id="294" name="Tx294"/>
          <p:cNvSpPr/>
          <p:nvPr/>
        </p:nvSpPr>
        <p:spPr>
          <a:xfrm>
            <a:off x="10062464" y="6625080"/>
            <a:ext cx="198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NBFC &amp; Fintech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1333</Words>
  <Application>Microsoft Office PowerPoint</Application>
  <PresentationFormat>Widescreen</PresentationFormat>
  <Paragraphs>183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Advait Mahajan</dc:creator>
  <cp:lastModifiedBy>Advait Mahajan</cp:lastModifiedBy>
  <cp:revision>1</cp:revision>
  <dcterms:created xsi:type="dcterms:W3CDTF">2026-06-16T09:45:13Z</dcterms:created>
  <dcterms:modified xsi:type="dcterms:W3CDTF">2026-06-16T09:45:53Z</dcterms:modified>
</cp:coreProperties>
</file>