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E39283-BEF1-4144-BB3E-225230693677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0D51FD-E27A-4047-A828-B14EA3968D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342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F5C2B-3C9D-D5B4-9AA5-5604753AA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514238-75DD-C85D-9E7E-F9EA8DCE3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469E6-72EE-9499-B909-67B9B191A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1A4A4-CD04-42B9-8118-3E2C64EB0D8E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3983E-207A-F9BC-994C-2FABE53B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E8860-42A2-780F-C082-C1FC186E5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6740B-720B-4B01-84B1-ABBE50559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78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7B773-2660-6E82-4D4B-D00E03B14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C0DA6-41A7-4AA4-423D-2BD051186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82038-B16A-6793-79AB-24BEE3725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1A4A4-CD04-42B9-8118-3E2C64EB0D8E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5935F-9FF1-2EF4-1C63-981B1B399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3072A-D3D9-8F5E-9FD9-E07F78A61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6740B-720B-4B01-84B1-ABBE50559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795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0AD9-C911-4EC3-C96E-4D3044FA2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3132F-ADCA-C6FB-4B5D-8768C032D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8944E-0C65-E242-8E34-1333F3325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1A4A4-CD04-42B9-8118-3E2C64EB0D8E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0CE7F-920A-63FF-F1E2-E4244517F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3BDAE-4FC4-FD14-4D21-B5F7A5394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6740B-720B-4B01-84B1-ABBE50559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908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57D29-F5E8-7D99-08C7-24286BE0D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485F9-34AA-5865-5D36-DC4D81AE5A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83AA2-9AE1-2D3B-0C37-65A5FD2C5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3C5572-F52F-8754-021D-8BF016356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1A4A4-CD04-42B9-8118-3E2C64EB0D8E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0D153D-3616-492A-6911-1BFF535EB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D54D3-CF65-118B-B1A9-7A06DBF4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6740B-720B-4B01-84B1-ABBE50559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124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70286-A418-39B9-BAD4-7236D207D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26D82-A5ED-11F6-983C-6E947D43B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F7E9C5-851E-559D-9CC8-3DB04AF8A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6840C2-F0F2-F7D4-2CAC-B9F4710E0B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274CE9-9DF9-5D3B-D4F6-2ABC00E0EA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6F26D6-C23C-CA80-3636-FBFE4D0A2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1A4A4-CD04-42B9-8118-3E2C64EB0D8E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9E8245-C5C8-227D-51A2-5C6F0E313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F83B34-F517-0D86-FFA3-D40DC30F2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6740B-720B-4B01-84B1-ABBE50559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970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BF6C6-137B-D11E-8B22-07741177D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0B27AD-4DC5-FE06-2CFB-8DBFE064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1A4A4-CD04-42B9-8118-3E2C64EB0D8E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596C90-9EB6-5DB1-3633-AEDE55E09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8D11F-01F7-5C3E-7EBC-2F9953406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6740B-720B-4B01-84B1-ABBE50559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000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D9D4DC-7C7F-A5D0-4EF2-3D3830862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1A4A4-CD04-42B9-8118-3E2C64EB0D8E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71182A-4E4B-01F3-E398-D3536DC70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AAE3F-EF02-2FC9-8FAD-DCF8364DF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6740B-720B-4B01-84B1-ABBE50559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175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669C3-A8A2-67AE-A2D6-8D2EEF7AD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99667-A495-E7A6-4B58-48A340D6D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350F89-D05B-52EF-4B45-F4BE0CFF54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0FD26-904F-D9C5-757D-2327638A0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1A4A4-CD04-42B9-8118-3E2C64EB0D8E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A64CF-A659-8F1A-9358-2471B34D1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D531D1-EF9B-488A-7728-03783F51F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6740B-720B-4B01-84B1-ABBE50559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962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C8F24-EE87-F18A-166A-38C477F15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7D740F-3A08-9FD8-78E4-F8F822596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52417-B29B-471D-68DB-F7A7C35E1D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BD9E6-BB9F-C571-070D-577681689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1A4A4-CD04-42B9-8118-3E2C64EB0D8E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8ACAF5-8B2B-C5B8-30F5-628E0A287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F0D5B4-2B12-0CDD-9CD7-963EC7A6B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6740B-720B-4B01-84B1-ABBE50559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64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B89F5-1A9E-A9C6-C963-C8A32BCA6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65A2B8-25D1-1948-FC4C-31B4EB24C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5C08F-DE28-F1DB-532A-36BE54F38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1A4A4-CD04-42B9-8118-3E2C64EB0D8E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9D8DF-1E8A-B42A-F9AC-A9C4419E9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CEFF9-C1F9-F1D7-6FB1-FFE423CEF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6740B-720B-4B01-84B1-ABBE50559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581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DF2C20-5193-2085-E615-5143CB576B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3DF9CE-E520-0208-945F-FAA6BEF1FB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6567B-7BB8-C675-9C1D-4F95BA1D8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1A4A4-CD04-42B9-8118-3E2C64EB0D8E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C4260-A1B8-0D6E-9FDB-BCDBEB560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B57B6-C1BF-4E9C-C1CF-351B234B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6740B-720B-4B01-84B1-ABBE50559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697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0936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800729-151F-9948-F709-4E44AB51C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143A4-04A8-7559-CF67-D785A100B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277B4-32C4-EBCC-3BF1-1C0265A204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31A4A4-CD04-42B9-8118-3E2C64EB0D8E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B062A-8F11-A93B-6D17-00D3E9E9D7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32329-F0C1-0B78-B340-7F5229FAD7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A6740B-720B-4B01-84B1-ABBE50559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165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268224"/>
            <a:ext cx="7924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Problems We Solve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26720" y="1158240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" name="Shape 4"/>
          <p:cNvSpPr/>
          <p:nvPr/>
        </p:nvSpPr>
        <p:spPr>
          <a:xfrm>
            <a:off x="615696" y="1158240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7" name="Shape 5"/>
          <p:cNvSpPr/>
          <p:nvPr/>
        </p:nvSpPr>
        <p:spPr>
          <a:xfrm>
            <a:off x="804672" y="1158240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8" name="Shape 6"/>
          <p:cNvSpPr/>
          <p:nvPr/>
        </p:nvSpPr>
        <p:spPr>
          <a:xfrm>
            <a:off x="993648" y="1158240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9" name="Shape 7"/>
          <p:cNvSpPr/>
          <p:nvPr/>
        </p:nvSpPr>
        <p:spPr>
          <a:xfrm>
            <a:off x="1182624" y="1158240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0" name="Shape 8"/>
          <p:cNvSpPr/>
          <p:nvPr/>
        </p:nvSpPr>
        <p:spPr>
          <a:xfrm>
            <a:off x="1371600" y="1158240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" name="Shape 9"/>
          <p:cNvSpPr/>
          <p:nvPr/>
        </p:nvSpPr>
        <p:spPr>
          <a:xfrm>
            <a:off x="1560576" y="1158240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2" name="Shape 10"/>
          <p:cNvSpPr/>
          <p:nvPr/>
        </p:nvSpPr>
        <p:spPr>
          <a:xfrm>
            <a:off x="1749552" y="1158240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3" name="Shape 11"/>
          <p:cNvSpPr/>
          <p:nvPr/>
        </p:nvSpPr>
        <p:spPr>
          <a:xfrm>
            <a:off x="426720" y="1347216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4" name="Shape 12"/>
          <p:cNvSpPr/>
          <p:nvPr/>
        </p:nvSpPr>
        <p:spPr>
          <a:xfrm>
            <a:off x="615696" y="1347216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5" name="Shape 13"/>
          <p:cNvSpPr/>
          <p:nvPr/>
        </p:nvSpPr>
        <p:spPr>
          <a:xfrm>
            <a:off x="804672" y="1347216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6" name="Shape 14"/>
          <p:cNvSpPr/>
          <p:nvPr/>
        </p:nvSpPr>
        <p:spPr>
          <a:xfrm>
            <a:off x="993648" y="1347216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7" name="Shape 15"/>
          <p:cNvSpPr/>
          <p:nvPr/>
        </p:nvSpPr>
        <p:spPr>
          <a:xfrm>
            <a:off x="1182624" y="1347216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8" name="Shape 16"/>
          <p:cNvSpPr/>
          <p:nvPr/>
        </p:nvSpPr>
        <p:spPr>
          <a:xfrm>
            <a:off x="1371600" y="1347216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9" name="Shape 17"/>
          <p:cNvSpPr/>
          <p:nvPr/>
        </p:nvSpPr>
        <p:spPr>
          <a:xfrm>
            <a:off x="1560576" y="1347216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0" name="Shape 18"/>
          <p:cNvSpPr/>
          <p:nvPr/>
        </p:nvSpPr>
        <p:spPr>
          <a:xfrm>
            <a:off x="1749552" y="1347216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1" name="Shape 19"/>
          <p:cNvSpPr/>
          <p:nvPr/>
        </p:nvSpPr>
        <p:spPr>
          <a:xfrm>
            <a:off x="426720" y="1536192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2" name="Shape 20"/>
          <p:cNvSpPr/>
          <p:nvPr/>
        </p:nvSpPr>
        <p:spPr>
          <a:xfrm>
            <a:off x="615696" y="1536192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3" name="Shape 21"/>
          <p:cNvSpPr/>
          <p:nvPr/>
        </p:nvSpPr>
        <p:spPr>
          <a:xfrm>
            <a:off x="804672" y="1536192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4" name="Shape 22"/>
          <p:cNvSpPr/>
          <p:nvPr/>
        </p:nvSpPr>
        <p:spPr>
          <a:xfrm>
            <a:off x="993648" y="1536192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5" name="Shape 23"/>
          <p:cNvSpPr/>
          <p:nvPr/>
        </p:nvSpPr>
        <p:spPr>
          <a:xfrm>
            <a:off x="1182624" y="1536192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6" name="Shape 24"/>
          <p:cNvSpPr/>
          <p:nvPr/>
        </p:nvSpPr>
        <p:spPr>
          <a:xfrm>
            <a:off x="1371600" y="1536192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7" name="Shape 25"/>
          <p:cNvSpPr/>
          <p:nvPr/>
        </p:nvSpPr>
        <p:spPr>
          <a:xfrm>
            <a:off x="1560576" y="1536192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8" name="Shape 26"/>
          <p:cNvSpPr/>
          <p:nvPr/>
        </p:nvSpPr>
        <p:spPr>
          <a:xfrm>
            <a:off x="1749552" y="1536192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9" name="Shape 27"/>
          <p:cNvSpPr/>
          <p:nvPr/>
        </p:nvSpPr>
        <p:spPr>
          <a:xfrm>
            <a:off x="426720" y="1725168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0" name="Shape 28"/>
          <p:cNvSpPr/>
          <p:nvPr/>
        </p:nvSpPr>
        <p:spPr>
          <a:xfrm>
            <a:off x="615696" y="1725168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1" name="Shape 29"/>
          <p:cNvSpPr/>
          <p:nvPr/>
        </p:nvSpPr>
        <p:spPr>
          <a:xfrm>
            <a:off x="804672" y="1725168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2" name="Shape 30"/>
          <p:cNvSpPr/>
          <p:nvPr/>
        </p:nvSpPr>
        <p:spPr>
          <a:xfrm>
            <a:off x="993648" y="1725168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3" name="Shape 31"/>
          <p:cNvSpPr/>
          <p:nvPr/>
        </p:nvSpPr>
        <p:spPr>
          <a:xfrm>
            <a:off x="1182624" y="1725168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4" name="Shape 32"/>
          <p:cNvSpPr/>
          <p:nvPr/>
        </p:nvSpPr>
        <p:spPr>
          <a:xfrm>
            <a:off x="1371600" y="1725168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5" name="Shape 33"/>
          <p:cNvSpPr/>
          <p:nvPr/>
        </p:nvSpPr>
        <p:spPr>
          <a:xfrm>
            <a:off x="1560576" y="1725168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6" name="Shape 34"/>
          <p:cNvSpPr/>
          <p:nvPr/>
        </p:nvSpPr>
        <p:spPr>
          <a:xfrm>
            <a:off x="1749552" y="1725168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7" name="Shape 35"/>
          <p:cNvSpPr/>
          <p:nvPr/>
        </p:nvSpPr>
        <p:spPr>
          <a:xfrm>
            <a:off x="426720" y="1914144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8" name="Shape 36"/>
          <p:cNvSpPr/>
          <p:nvPr/>
        </p:nvSpPr>
        <p:spPr>
          <a:xfrm>
            <a:off x="615696" y="1914144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9" name="Shape 37"/>
          <p:cNvSpPr/>
          <p:nvPr/>
        </p:nvSpPr>
        <p:spPr>
          <a:xfrm>
            <a:off x="804672" y="1914144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0" name="Shape 38"/>
          <p:cNvSpPr/>
          <p:nvPr/>
        </p:nvSpPr>
        <p:spPr>
          <a:xfrm>
            <a:off x="993648" y="1914144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1" name="Shape 39"/>
          <p:cNvSpPr/>
          <p:nvPr/>
        </p:nvSpPr>
        <p:spPr>
          <a:xfrm>
            <a:off x="1182624" y="1914144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2" name="Shape 40"/>
          <p:cNvSpPr/>
          <p:nvPr/>
        </p:nvSpPr>
        <p:spPr>
          <a:xfrm>
            <a:off x="1371600" y="1914144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3" name="Shape 41"/>
          <p:cNvSpPr/>
          <p:nvPr/>
        </p:nvSpPr>
        <p:spPr>
          <a:xfrm>
            <a:off x="1560576" y="1914144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4" name="Shape 42"/>
          <p:cNvSpPr/>
          <p:nvPr/>
        </p:nvSpPr>
        <p:spPr>
          <a:xfrm>
            <a:off x="1749552" y="1914144"/>
            <a:ext cx="67056" cy="67056"/>
          </a:xfrm>
          <a:prstGeom prst="ellipse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5" name="Shape 43"/>
          <p:cNvSpPr/>
          <p:nvPr/>
        </p:nvSpPr>
        <p:spPr>
          <a:xfrm>
            <a:off x="426720" y="3413760"/>
            <a:ext cx="2194560" cy="2194560"/>
          </a:xfrm>
          <a:prstGeom prst="rect">
            <a:avLst/>
          </a:prstGeom>
          <a:solidFill>
            <a:srgbClr val="C5D9ED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6" name="Text 44"/>
          <p:cNvSpPr/>
          <p:nvPr/>
        </p:nvSpPr>
        <p:spPr>
          <a:xfrm>
            <a:off x="585216" y="3535680"/>
            <a:ext cx="187756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C4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85216" y="3755136"/>
            <a:ext cx="1877568" cy="0"/>
          </a:xfrm>
          <a:prstGeom prst="line">
            <a:avLst/>
          </a:prstGeom>
          <a:noFill/>
          <a:ln w="6350">
            <a:solidFill>
              <a:srgbClr val="1C4B8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8" name="Text 46"/>
          <p:cNvSpPr/>
          <p:nvPr/>
        </p:nvSpPr>
        <p:spPr>
          <a:xfrm>
            <a:off x="585216" y="3803904"/>
            <a:ext cx="1877568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1C4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733" dirty="0"/>
          </a:p>
          <a:p>
            <a:r>
              <a:rPr lang="en-US" sz="1733" b="1" dirty="0">
                <a:solidFill>
                  <a:srgbClr val="1C4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733" dirty="0"/>
          </a:p>
        </p:txBody>
      </p:sp>
      <p:sp>
        <p:nvSpPr>
          <p:cNvPr id="49" name="Shape 47"/>
          <p:cNvSpPr/>
          <p:nvPr/>
        </p:nvSpPr>
        <p:spPr>
          <a:xfrm>
            <a:off x="585216" y="4620768"/>
            <a:ext cx="1877568" cy="0"/>
          </a:xfrm>
          <a:prstGeom prst="line">
            <a:avLst/>
          </a:prstGeom>
          <a:noFill/>
          <a:ln w="6350">
            <a:solidFill>
              <a:srgbClr val="1C4B8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0" name="Text 48"/>
          <p:cNvSpPr/>
          <p:nvPr/>
        </p:nvSpPr>
        <p:spPr>
          <a:xfrm>
            <a:off x="585216" y="4669536"/>
            <a:ext cx="1877568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1C4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60–80%</a:t>
            </a:r>
            <a:endParaRPr lang="en-US" sz="1533" dirty="0"/>
          </a:p>
        </p:txBody>
      </p:sp>
      <p:sp>
        <p:nvSpPr>
          <p:cNvPr id="51" name="Text 49"/>
          <p:cNvSpPr/>
          <p:nvPr/>
        </p:nvSpPr>
        <p:spPr>
          <a:xfrm>
            <a:off x="585216" y="5010912"/>
            <a:ext cx="187756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1C4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F&amp;A work is</a:t>
            </a:r>
            <a:endParaRPr lang="en-US" sz="933" dirty="0"/>
          </a:p>
        </p:txBody>
      </p:sp>
      <p:sp>
        <p:nvSpPr>
          <p:cNvPr id="52" name="Text 50"/>
          <p:cNvSpPr/>
          <p:nvPr/>
        </p:nvSpPr>
        <p:spPr>
          <a:xfrm>
            <a:off x="585216" y="5230368"/>
            <a:ext cx="187756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1C4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— Gartner</a:t>
            </a:r>
            <a:endParaRPr lang="en-US" sz="933" dirty="0"/>
          </a:p>
        </p:txBody>
      </p:sp>
      <p:sp>
        <p:nvSpPr>
          <p:cNvPr id="53" name="Shape 51"/>
          <p:cNvSpPr/>
          <p:nvPr/>
        </p:nvSpPr>
        <p:spPr>
          <a:xfrm>
            <a:off x="2779776" y="2682240"/>
            <a:ext cx="2194560" cy="2926080"/>
          </a:xfrm>
          <a:prstGeom prst="rect">
            <a:avLst/>
          </a:prstGeom>
          <a:solidFill>
            <a:srgbClr val="8FBBD9"/>
          </a:solidFill>
          <a:ln w="12700">
            <a:solidFill>
              <a:srgbClr val="8FBBD9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4" name="Text 52"/>
          <p:cNvSpPr/>
          <p:nvPr/>
        </p:nvSpPr>
        <p:spPr>
          <a:xfrm>
            <a:off x="2938272" y="2804160"/>
            <a:ext cx="187756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C4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02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938272" y="3023616"/>
            <a:ext cx="1877568" cy="0"/>
          </a:xfrm>
          <a:prstGeom prst="line">
            <a:avLst/>
          </a:prstGeom>
          <a:noFill/>
          <a:ln w="6350">
            <a:solidFill>
              <a:srgbClr val="1C4B8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6" name="Text 54"/>
          <p:cNvSpPr/>
          <p:nvPr/>
        </p:nvSpPr>
        <p:spPr>
          <a:xfrm>
            <a:off x="2938272" y="3072384"/>
            <a:ext cx="1877568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1C4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</a:t>
            </a:r>
            <a:endParaRPr lang="en-US" sz="1733" dirty="0"/>
          </a:p>
          <a:p>
            <a:r>
              <a:rPr lang="en-US" sz="1733" b="1" dirty="0">
                <a:solidFill>
                  <a:srgbClr val="1C4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733" dirty="0"/>
          </a:p>
        </p:txBody>
      </p:sp>
      <p:sp>
        <p:nvSpPr>
          <p:cNvPr id="57" name="Shape 55"/>
          <p:cNvSpPr/>
          <p:nvPr/>
        </p:nvSpPr>
        <p:spPr>
          <a:xfrm>
            <a:off x="2938272" y="4620768"/>
            <a:ext cx="1877568" cy="0"/>
          </a:xfrm>
          <a:prstGeom prst="line">
            <a:avLst/>
          </a:prstGeom>
          <a:noFill/>
          <a:ln w="6350">
            <a:solidFill>
              <a:srgbClr val="1C4B8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8" name="Text 56"/>
          <p:cNvSpPr/>
          <p:nvPr/>
        </p:nvSpPr>
        <p:spPr>
          <a:xfrm>
            <a:off x="2938272" y="4669536"/>
            <a:ext cx="1877568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1C4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 days</a:t>
            </a:r>
            <a:endParaRPr lang="en-US" sz="1533" dirty="0"/>
          </a:p>
        </p:txBody>
      </p:sp>
      <p:sp>
        <p:nvSpPr>
          <p:cNvPr id="59" name="Text 57"/>
          <p:cNvSpPr/>
          <p:nvPr/>
        </p:nvSpPr>
        <p:spPr>
          <a:xfrm>
            <a:off x="2938272" y="5010912"/>
            <a:ext cx="187756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1C4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close cycle</a:t>
            </a:r>
            <a:endParaRPr lang="en-US" sz="933" dirty="0"/>
          </a:p>
        </p:txBody>
      </p:sp>
      <p:sp>
        <p:nvSpPr>
          <p:cNvPr id="60" name="Text 58"/>
          <p:cNvSpPr/>
          <p:nvPr/>
        </p:nvSpPr>
        <p:spPr>
          <a:xfrm>
            <a:off x="2938272" y="5230368"/>
            <a:ext cx="187756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1C4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BlackLine</a:t>
            </a:r>
            <a:endParaRPr lang="en-US" sz="933" dirty="0"/>
          </a:p>
        </p:txBody>
      </p:sp>
      <p:sp>
        <p:nvSpPr>
          <p:cNvPr id="61" name="Text 59"/>
          <p:cNvSpPr/>
          <p:nvPr/>
        </p:nvSpPr>
        <p:spPr>
          <a:xfrm>
            <a:off x="2938272" y="4072128"/>
            <a:ext cx="1877568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1C4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takes 5–10 days. By the time books close, decisions have already been made on stale data.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132832" y="2011680"/>
            <a:ext cx="2194560" cy="3596640"/>
          </a:xfrm>
          <a:prstGeom prst="rect">
            <a:avLst/>
          </a:prstGeom>
          <a:solidFill>
            <a:srgbClr val="5B94C5"/>
          </a:solidFill>
          <a:ln w="12700">
            <a:solidFill>
              <a:srgbClr val="5B94C5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3" name="Text 61"/>
          <p:cNvSpPr/>
          <p:nvPr/>
        </p:nvSpPr>
        <p:spPr>
          <a:xfrm>
            <a:off x="5291328" y="2133600"/>
            <a:ext cx="187756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03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291328" y="2353056"/>
            <a:ext cx="1877568" cy="0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5" name="Text 63"/>
          <p:cNvSpPr/>
          <p:nvPr/>
        </p:nvSpPr>
        <p:spPr>
          <a:xfrm>
            <a:off x="5291328" y="2401824"/>
            <a:ext cx="1877568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</a:t>
            </a:r>
            <a:endParaRPr lang="en-US" sz="1733" dirty="0"/>
          </a:p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733" dirty="0"/>
          </a:p>
        </p:txBody>
      </p:sp>
      <p:sp>
        <p:nvSpPr>
          <p:cNvPr id="66" name="Shape 64"/>
          <p:cNvSpPr/>
          <p:nvPr/>
        </p:nvSpPr>
        <p:spPr>
          <a:xfrm>
            <a:off x="5291328" y="4620768"/>
            <a:ext cx="1877568" cy="0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7" name="Text 65"/>
          <p:cNvSpPr/>
          <p:nvPr/>
        </p:nvSpPr>
        <p:spPr>
          <a:xfrm>
            <a:off x="5291328" y="4669536"/>
            <a:ext cx="1877568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$3.1M / year</a:t>
            </a:r>
            <a:endParaRPr lang="en-US" sz="1533" dirty="0"/>
          </a:p>
        </p:txBody>
      </p:sp>
      <p:sp>
        <p:nvSpPr>
          <p:cNvPr id="68" name="Text 66"/>
          <p:cNvSpPr/>
          <p:nvPr/>
        </p:nvSpPr>
        <p:spPr>
          <a:xfrm>
            <a:off x="5291328" y="5010912"/>
            <a:ext cx="187756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loss to errors</a:t>
            </a:r>
            <a:endParaRPr lang="en-US" sz="933" dirty="0"/>
          </a:p>
        </p:txBody>
      </p:sp>
      <p:sp>
        <p:nvSpPr>
          <p:cNvPr id="69" name="Text 67"/>
          <p:cNvSpPr/>
          <p:nvPr/>
        </p:nvSpPr>
        <p:spPr>
          <a:xfrm>
            <a:off x="5291328" y="5230368"/>
            <a:ext cx="187756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APQC</a:t>
            </a:r>
            <a:endParaRPr lang="en-US" sz="933" dirty="0"/>
          </a:p>
        </p:txBody>
      </p:sp>
      <p:sp>
        <p:nvSpPr>
          <p:cNvPr id="70" name="Text 68"/>
          <p:cNvSpPr/>
          <p:nvPr/>
        </p:nvSpPr>
        <p:spPr>
          <a:xfrm>
            <a:off x="5291328" y="3401568"/>
            <a:ext cx="1877568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payments, mispostings, and reconciliation failures create write-offs and reputational damage.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485888" y="1341120"/>
            <a:ext cx="2194560" cy="4267200"/>
          </a:xfrm>
          <a:prstGeom prst="rect">
            <a:avLst/>
          </a:prstGeom>
          <a:solidFill>
            <a:srgbClr val="1C4B82"/>
          </a:solidFill>
          <a:ln w="12700">
            <a:solidFill>
              <a:srgbClr val="1C4B82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72" name="Text 70"/>
          <p:cNvSpPr/>
          <p:nvPr/>
        </p:nvSpPr>
        <p:spPr>
          <a:xfrm>
            <a:off x="7644384" y="1463040"/>
            <a:ext cx="187756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04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644384" y="1682496"/>
            <a:ext cx="1877568" cy="0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74" name="Text 72"/>
          <p:cNvSpPr/>
          <p:nvPr/>
        </p:nvSpPr>
        <p:spPr>
          <a:xfrm>
            <a:off x="7644384" y="1731264"/>
            <a:ext cx="1877568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733" dirty="0"/>
          </a:p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Audit Risk</a:t>
            </a:r>
            <a:endParaRPr lang="en-US" sz="1733" dirty="0"/>
          </a:p>
        </p:txBody>
      </p:sp>
      <p:sp>
        <p:nvSpPr>
          <p:cNvPr id="75" name="Shape 73"/>
          <p:cNvSpPr/>
          <p:nvPr/>
        </p:nvSpPr>
        <p:spPr>
          <a:xfrm>
            <a:off x="7644384" y="4620768"/>
            <a:ext cx="1877568" cy="0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76" name="Text 74"/>
          <p:cNvSpPr/>
          <p:nvPr/>
        </p:nvSpPr>
        <p:spPr>
          <a:xfrm>
            <a:off x="7644384" y="4669536"/>
            <a:ext cx="1877568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$5.87M</a:t>
            </a:r>
            <a:endParaRPr lang="en-US" sz="1533" dirty="0"/>
          </a:p>
        </p:txBody>
      </p:sp>
      <p:sp>
        <p:nvSpPr>
          <p:cNvPr id="77" name="Text 75"/>
          <p:cNvSpPr/>
          <p:nvPr/>
        </p:nvSpPr>
        <p:spPr>
          <a:xfrm>
            <a:off x="7644384" y="5010912"/>
            <a:ext cx="187756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non-compliance</a:t>
            </a:r>
            <a:endParaRPr lang="en-US" sz="933" dirty="0"/>
          </a:p>
        </p:txBody>
      </p:sp>
      <p:sp>
        <p:nvSpPr>
          <p:cNvPr id="78" name="Text 76"/>
          <p:cNvSpPr/>
          <p:nvPr/>
        </p:nvSpPr>
        <p:spPr>
          <a:xfrm>
            <a:off x="7644384" y="5230368"/>
            <a:ext cx="187756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— LexisNexis</a:t>
            </a:r>
            <a:endParaRPr lang="en-US" sz="933" dirty="0"/>
          </a:p>
        </p:txBody>
      </p:sp>
      <p:sp>
        <p:nvSpPr>
          <p:cNvPr id="79" name="Text 77"/>
          <p:cNvSpPr/>
          <p:nvPr/>
        </p:nvSpPr>
        <p:spPr>
          <a:xfrm>
            <a:off x="7644384" y="2731008"/>
            <a:ext cx="187756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automated audit trails and controls, every regulatory review becomes a fire drill.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9838944" y="670560"/>
            <a:ext cx="2194560" cy="493776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81" name="Text 79"/>
          <p:cNvSpPr/>
          <p:nvPr/>
        </p:nvSpPr>
        <p:spPr>
          <a:xfrm>
            <a:off x="9997440" y="792480"/>
            <a:ext cx="187756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05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9997440" y="1011936"/>
            <a:ext cx="1877568" cy="0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83" name="Text 81"/>
          <p:cNvSpPr/>
          <p:nvPr/>
        </p:nvSpPr>
        <p:spPr>
          <a:xfrm>
            <a:off x="9997440" y="1060704"/>
            <a:ext cx="1877568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Strategic</a:t>
            </a:r>
            <a:endParaRPr lang="en-US" sz="1733" dirty="0"/>
          </a:p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733" dirty="0"/>
          </a:p>
        </p:txBody>
      </p:sp>
      <p:sp>
        <p:nvSpPr>
          <p:cNvPr id="84" name="Shape 82"/>
          <p:cNvSpPr/>
          <p:nvPr/>
        </p:nvSpPr>
        <p:spPr>
          <a:xfrm>
            <a:off x="9997440" y="4620768"/>
            <a:ext cx="1877568" cy="0"/>
          </a:xfrm>
          <a:prstGeom prst="line">
            <a:avLst/>
          </a:prstGeom>
          <a:noFill/>
          <a:ln w="635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85" name="Text 83"/>
          <p:cNvSpPr/>
          <p:nvPr/>
        </p:nvSpPr>
        <p:spPr>
          <a:xfrm>
            <a:off x="9997440" y="4669536"/>
            <a:ext cx="1877568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CFOs</a:t>
            </a:r>
            <a:endParaRPr lang="en-US" sz="1533" dirty="0"/>
          </a:p>
        </p:txBody>
      </p:sp>
      <p:sp>
        <p:nvSpPr>
          <p:cNvPr id="86" name="Text 84"/>
          <p:cNvSpPr/>
          <p:nvPr/>
        </p:nvSpPr>
        <p:spPr>
          <a:xfrm>
            <a:off x="9997440" y="5010912"/>
            <a:ext cx="187756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F&amp;A lacks</a:t>
            </a:r>
            <a:endParaRPr lang="en-US" sz="933" dirty="0"/>
          </a:p>
        </p:txBody>
      </p:sp>
      <p:sp>
        <p:nvSpPr>
          <p:cNvPr id="87" name="Text 85"/>
          <p:cNvSpPr/>
          <p:nvPr/>
        </p:nvSpPr>
        <p:spPr>
          <a:xfrm>
            <a:off x="9997440" y="5230368"/>
            <a:ext cx="187756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— Deloitte</a:t>
            </a:r>
            <a:endParaRPr lang="en-US" sz="933" dirty="0"/>
          </a:p>
        </p:txBody>
      </p:sp>
      <p:sp>
        <p:nvSpPr>
          <p:cNvPr id="88" name="Text 86"/>
          <p:cNvSpPr/>
          <p:nvPr/>
        </p:nvSpPr>
        <p:spPr>
          <a:xfrm>
            <a:off x="9997440" y="2060448"/>
            <a:ext cx="1877568" cy="253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teams buried in transactions can't support forecasting, partnering, or growth decisions.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426720" y="5705856"/>
            <a:ext cx="11338560" cy="707136"/>
          </a:xfrm>
          <a:prstGeom prst="rect">
            <a:avLst/>
          </a:prstGeom>
          <a:solidFill>
            <a:srgbClr val="EEF4FA"/>
          </a:solidFill>
          <a:ln w="12700">
            <a:solidFill>
              <a:srgbClr val="C5D9E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90" name="Text 88"/>
          <p:cNvSpPr/>
          <p:nvPr/>
        </p:nvSpPr>
        <p:spPr>
          <a:xfrm>
            <a:off x="426720" y="5705856"/>
            <a:ext cx="1133856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i="1" dirty="0">
                <a:solidFill>
                  <a:srgbClr val="1C4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"Finance teams that automate today will out-decide, out-close, and out-grow those that don't."</a:t>
            </a:r>
            <a:endParaRPr lang="en-US" sz="1267" dirty="0"/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5224A43E-3588-29F8-BAE9-360E49D846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9728" y="122783"/>
            <a:ext cx="1613776" cy="2908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</Words>
  <Application>Microsoft Office PowerPoint</Application>
  <PresentationFormat>Widescreen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Advait Mahajan</dc:creator>
  <cp:lastModifiedBy>Advait Mahajan</cp:lastModifiedBy>
  <cp:revision>1</cp:revision>
  <dcterms:created xsi:type="dcterms:W3CDTF">2026-06-17T10:46:17Z</dcterms:created>
  <dcterms:modified xsi:type="dcterms:W3CDTF">2026-06-17T10:47:15Z</dcterms:modified>
</cp:coreProperties>
</file>