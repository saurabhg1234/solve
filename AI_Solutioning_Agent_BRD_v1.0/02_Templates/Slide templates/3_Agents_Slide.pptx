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3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C0BAF-DB4C-420D-A082-671212D399F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58F13-7BB9-4AED-80B7-29EEF1D72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8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F4B69-C1F2-9DE9-6444-DB81E5E1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1CCA9-C466-78D2-5CC3-4F10AD09C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68D25-3220-789D-C7A5-DC90A0138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that owing to NDA requirements – we are in stealth mode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1D800-9331-094B-3239-95C89F4D4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E87375-F4FB-43DF-8995-56F27915A59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867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E5B0-A800-78DE-52C2-038B4B99C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A7E64-A470-F175-C411-84B5EAE1F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2F2A-9195-9EC4-344F-857607E1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9F02-CCC3-EF89-DE5F-9DDC48D9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0296D-273E-ED66-99D9-7B8DC1BE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5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A05A-FA7F-9147-9735-0D6B322F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BE73B-4749-5475-0507-CDECCD5E9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03CC8-C4E9-4A7A-B899-EC813F3A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8490C-B7F7-8817-9438-B942239B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F175F-87B6-EB6A-EEB3-7F8287BB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97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34DC-3839-66E7-7A98-7EB85FC6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4692B-99C9-00C6-3BC7-20423437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A2B3-B11C-D93E-7873-96505619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25306-6B54-1909-E923-8EC30FBF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089A9-48E1-44F4-C9C0-70AB7E34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24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C52B-0358-9581-D0B0-6CD9760DE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EAC2-0BD3-D3B8-D371-65100A43D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6F46A-9EE3-0F12-63BC-DA326BF67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8601D-62F4-38EB-FCB8-9A3F751B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EC44D-1172-D08A-1DCA-AC3992C5F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AB29C-B58E-40B1-C907-29D0FD80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0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1D35-172D-7D05-0FAC-FEE8871F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B53-4525-830E-41D9-FFF0BB449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B7407-97AE-5613-8A56-65E859788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DEDEE-5D27-12B8-99F0-346CE2BB0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1069F-47CB-6577-884B-3DF6B87FB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87647-DA01-A339-963C-331F2CB4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E755AF-952E-BFD0-E1C1-ABBCB12D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E7012-C5E9-26F6-1B2C-85EA8CB7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3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6E1-29B6-518F-DDBF-0C34F0C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50823-1B20-0095-F781-1050670B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B1448-D7A4-9043-E2EC-9934DEA5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E614E-4437-DC2E-E111-2EDCE45B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51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7C6E4-C03F-773C-6536-B50871E9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394E5-22A5-C856-FCF7-99B0F2F1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2138B-B23A-8836-95BC-16546C54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7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54CF-999B-9FBD-0FC0-69DF08DA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3FC1-4DBD-E796-7E4D-71C04F527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8E1CF-8A63-7FD9-A889-8FA09DB96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71DFA-6C4C-5C14-1685-B06603C4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BCDEE-1AB0-B402-031F-876AF0C9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A2540-8775-6B1F-3EA8-FF76AF4D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3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6C94-F6A4-23D3-E507-1EA25853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37AEA-7ED0-C0D8-30B3-BF71C480D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61B77-182B-BC69-2245-C6A59B5B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C8B73-A025-4BFE-1314-80E01D9F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E2411-644A-1963-024C-32E729CD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2E710-C06A-9464-B524-19DFC0EC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9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4D4D-2012-3819-9669-448ECCA7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FB451-81E8-C568-1E91-0BAFB6F3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0B389-60A9-9810-79C6-CCA97FEF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2D7D4-B2EB-A342-54BE-9D5C81C0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519C8-93E4-4FD2-3131-31A6A001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07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C03A8-307A-9DAB-5861-CC98A3349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115F4-7FDE-FDDE-C3F0-7933F47AF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69DF-F678-7F68-02FA-73CE4FF9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41D1F-93CD-51C0-A19F-074BBC8C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B69D-FE2A-3D7C-2728-BF7172A4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1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F117D-5554-92E4-C66C-660110A1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E65BA-5950-CAFE-71A2-4EC94656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D5A90-5FB8-2328-410F-7F76A1052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4771F-63DC-4454-9024-62ED72F302E4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8971F-5EAD-E759-0753-4C8AF637A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B22E3-E6A4-E147-5DDF-EF4CB6207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B116A-7571-4321-9F8A-06A2E7385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59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3A83-286E-37AE-2FCB-0073EA26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06852FC-6F5C-CC85-FB7D-0EEA2BE9FC63}"/>
              </a:ext>
            </a:extLst>
          </p:cNvPr>
          <p:cNvSpPr/>
          <p:nvPr/>
        </p:nvSpPr>
        <p:spPr>
          <a:xfrm>
            <a:off x="0" y="2598634"/>
            <a:ext cx="12192000" cy="4259368"/>
          </a:xfrm>
          <a:prstGeom prst="rect">
            <a:avLst/>
          </a:prstGeom>
          <a:solidFill>
            <a:srgbClr val="2562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8A661-28B3-28A0-3795-4E8FF4F46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703" y="237273"/>
            <a:ext cx="1613776" cy="290882"/>
          </a:xfrm>
          <a:prstGeom prst="rect">
            <a:avLst/>
          </a:prstGeom>
        </p:spPr>
      </p:pic>
      <p:sp>
        <p:nvSpPr>
          <p:cNvPr id="32" name="Rounded Rectangle 35">
            <a:extLst>
              <a:ext uri="{FF2B5EF4-FFF2-40B4-BE49-F238E27FC236}">
                <a16:creationId xmlns:a16="http://schemas.microsoft.com/office/drawing/2014/main" id="{C0510E0A-684C-51F2-EF63-004909F02237}"/>
              </a:ext>
            </a:extLst>
          </p:cNvPr>
          <p:cNvSpPr/>
          <p:nvPr/>
        </p:nvSpPr>
        <p:spPr>
          <a:xfrm rot="16200000">
            <a:off x="8284351" y="-804406"/>
            <a:ext cx="1849928" cy="5965371"/>
          </a:xfrm>
          <a:prstGeom prst="round2SameRect">
            <a:avLst>
              <a:gd name="adj1" fmla="val 24109"/>
              <a:gd name="adj2" fmla="val 0"/>
            </a:avLst>
          </a:prstGeom>
          <a:solidFill>
            <a:srgbClr val="3EA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40D4EA-F4AB-5202-29E7-3D3456734536}"/>
              </a:ext>
            </a:extLst>
          </p:cNvPr>
          <p:cNvGrpSpPr/>
          <p:nvPr/>
        </p:nvGrpSpPr>
        <p:grpSpPr>
          <a:xfrm>
            <a:off x="370374" y="2737467"/>
            <a:ext cx="2309838" cy="451434"/>
            <a:chOff x="644376" y="3581781"/>
            <a:chExt cx="2309838" cy="451434"/>
          </a:xfrm>
        </p:grpSpPr>
        <p:sp>
          <p:nvSpPr>
            <p:cNvPr id="43" name="Rounded Rectangle 33">
              <a:extLst>
                <a:ext uri="{FF2B5EF4-FFF2-40B4-BE49-F238E27FC236}">
                  <a16:creationId xmlns:a16="http://schemas.microsoft.com/office/drawing/2014/main" id="{25ECC8BA-BAC0-7403-5522-CE7A978F2A8E}"/>
                </a:ext>
              </a:extLst>
            </p:cNvPr>
            <p:cNvSpPr/>
            <p:nvPr/>
          </p:nvSpPr>
          <p:spPr>
            <a:xfrm>
              <a:off x="644376" y="3581781"/>
              <a:ext cx="2309838" cy="45143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55D4C5B-27FE-A8B7-5375-46C217D57C8D}"/>
                </a:ext>
              </a:extLst>
            </p:cNvPr>
            <p:cNvSpPr txBox="1"/>
            <p:nvPr/>
          </p:nvSpPr>
          <p:spPr>
            <a:xfrm>
              <a:off x="761991" y="3638221"/>
              <a:ext cx="20746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>
                  <a:solidFill>
                    <a:srgbClr val="3EA755"/>
                  </a:solidFill>
                  <a:latin typeface="Inter SemiBold" panose="02000503000000020004" pitchFamily="2" charset="0"/>
                  <a:ea typeface="Inter SemiBold" panose="02000503000000020004" pitchFamily="2" charset="0"/>
                </a:defRPr>
              </a:lvl1pPr>
            </a:lstStyle>
            <a:p>
              <a:pPr algn="ctr"/>
              <a:r>
                <a:rPr lang="en-IN" sz="1600">
                  <a:solidFill>
                    <a:srgbClr val="2562E8"/>
                  </a:solidFill>
                </a:rPr>
                <a:t>Strategic Rationale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B8A5A36A-127E-6E5E-A133-E369ED070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23"/>
          <a:stretch>
            <a:fillRect/>
          </a:stretch>
        </p:blipFill>
        <p:spPr>
          <a:xfrm>
            <a:off x="7031186" y="2657708"/>
            <a:ext cx="5160814" cy="4605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2FA27-7296-AB0D-BDF3-735417C0FE98}"/>
              </a:ext>
            </a:extLst>
          </p:cNvPr>
          <p:cNvSpPr txBox="1"/>
          <p:nvPr/>
        </p:nvSpPr>
        <p:spPr>
          <a:xfrm>
            <a:off x="370139" y="1658615"/>
            <a:ext cx="5317867" cy="738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spc="0">
                <a:solidFill>
                  <a:schemeClr val="tx1">
                    <a:lumMod val="85000"/>
                    <a:lumOff val="15000"/>
                  </a:schemeClr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N"/>
              <a:t>Automation and full-stack engineering specialist with 100% revenue from North American enterprise clients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973EBA-055A-BCF9-EB5F-B3A74F92555B}"/>
              </a:ext>
            </a:extLst>
          </p:cNvPr>
          <p:cNvSpPr/>
          <p:nvPr/>
        </p:nvSpPr>
        <p:spPr>
          <a:xfrm>
            <a:off x="8237041" y="3487209"/>
            <a:ext cx="3954960" cy="2755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Inter Semi Bold" panose="020B0702030000000004" pitchFamily="34" charset="0"/>
                <a:ea typeface="Inter Semi Bold" panose="020B0702030000000004" pitchFamily="34" charset="0"/>
              </a:rPr>
              <a:t>UI SCREEN NEEDED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C2D9F4-7FFA-F283-F4FD-F36204D7D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094" y="3430299"/>
            <a:ext cx="560070" cy="5600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1380A8-AE76-462D-8AAD-231519FE236E}"/>
              </a:ext>
            </a:extLst>
          </p:cNvPr>
          <p:cNvSpPr txBox="1"/>
          <p:nvPr/>
        </p:nvSpPr>
        <p:spPr>
          <a:xfrm>
            <a:off x="1157424" y="3379016"/>
            <a:ext cx="2971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Geographic Expansion</a:t>
            </a:r>
            <a:b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Strengthens North American market presence with established client 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26C78-48AD-7AA2-3079-6D9C26D0B5AC}"/>
              </a:ext>
            </a:extLst>
          </p:cNvPr>
          <p:cNvSpPr txBox="1"/>
          <p:nvPr/>
        </p:nvSpPr>
        <p:spPr>
          <a:xfrm>
            <a:off x="5070006" y="3379016"/>
            <a:ext cx="2541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Revenue Quality</a:t>
            </a:r>
            <a:b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Predictable revenues with strong pricing and high profitability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1BF89-527E-DB68-1FE7-AD968466EC8A}"/>
              </a:ext>
            </a:extLst>
          </p:cNvPr>
          <p:cNvSpPr txBox="1"/>
          <p:nvPr/>
        </p:nvSpPr>
        <p:spPr>
          <a:xfrm>
            <a:off x="1157424" y="4636384"/>
            <a:ext cx="28161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Leadership Addition</a:t>
            </a:r>
            <a:b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Senior leadership strengthens management team and drives 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A7137-300B-9B4D-0160-09E6CEF82C28}"/>
              </a:ext>
            </a:extLst>
          </p:cNvPr>
          <p:cNvSpPr txBox="1"/>
          <p:nvPr/>
        </p:nvSpPr>
        <p:spPr>
          <a:xfrm>
            <a:off x="5070006" y="4636384"/>
            <a:ext cx="2971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IP / Technology</a:t>
            </a:r>
            <a:b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Proprietary tools and strategic IP acquired, including frameworks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7699EE-A529-4528-A357-E9089F09914E}"/>
              </a:ext>
            </a:extLst>
          </p:cNvPr>
          <p:cNvSpPr txBox="1"/>
          <p:nvPr/>
        </p:nvSpPr>
        <p:spPr>
          <a:xfrm>
            <a:off x="1157424" y="5963668"/>
            <a:ext cx="324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Talent Synergies</a:t>
            </a:r>
            <a:b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Complementary tech stack and domain expertise in automation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C440F5A4-2C9F-D99A-B677-6B670F922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4975" y="3420771"/>
            <a:ext cx="569598" cy="56959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421276E-A581-2A5E-61D9-FAA3D9060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3419" y="4718934"/>
            <a:ext cx="482660" cy="48266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E9279BF-5AC5-6A97-82C6-ECDFC4FE6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746" y="4716161"/>
            <a:ext cx="609600" cy="6096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36F1F18-BAD5-50BB-DB61-D0FDE8196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1106" y="6007938"/>
            <a:ext cx="468882" cy="468882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71B4AF1B-97B8-493C-01C6-24FE5E3B9E98}"/>
              </a:ext>
            </a:extLst>
          </p:cNvPr>
          <p:cNvSpPr txBox="1">
            <a:spLocks/>
          </p:cNvSpPr>
          <p:nvPr/>
        </p:nvSpPr>
        <p:spPr>
          <a:xfrm>
            <a:off x="399094" y="585311"/>
            <a:ext cx="102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3EA755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r>
              <a:rPr lang="en-GB" dirty="0"/>
              <a:t>A Niche Insurance Technology Services Provider (Operating under NDA / Stealth mode for the next 1 year)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89F18D-592D-CC9F-1AF6-D20B561A1C02}"/>
              </a:ext>
            </a:extLst>
          </p:cNvPr>
          <p:cNvSpPr txBox="1"/>
          <p:nvPr/>
        </p:nvSpPr>
        <p:spPr>
          <a:xfrm>
            <a:off x="370139" y="1290026"/>
            <a:ext cx="6096000" cy="4247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spc="-150">
                <a:solidFill>
                  <a:schemeClr val="tx1">
                    <a:lumMod val="75000"/>
                    <a:lumOff val="25000"/>
                  </a:schemeClr>
                </a:solidFill>
                <a:latin typeface="Satoshi Medium" pitchFamily="50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IN" sz="2800">
                <a:solidFill>
                  <a:srgbClr val="2562E8"/>
                </a:solidFill>
              </a:rPr>
              <a:t>North America IT Services Acquisition</a:t>
            </a:r>
            <a:endParaRPr lang="en-GB" sz="2800">
              <a:solidFill>
                <a:srgbClr val="2562E8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6A1E59-C520-FC18-0BEB-F8530184A94D}"/>
              </a:ext>
            </a:extLst>
          </p:cNvPr>
          <p:cNvSpPr txBox="1"/>
          <p:nvPr/>
        </p:nvSpPr>
        <p:spPr>
          <a:xfrm>
            <a:off x="6705754" y="2200946"/>
            <a:ext cx="154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68 Skilled Employees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1898F4-06F1-7B16-AF65-68461C0B7410}"/>
              </a:ext>
            </a:extLst>
          </p:cNvPr>
          <p:cNvSpPr txBox="1"/>
          <p:nvPr/>
        </p:nvSpPr>
        <p:spPr>
          <a:xfrm>
            <a:off x="8418851" y="2200946"/>
            <a:ext cx="1549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100% North America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2A4D6F-BE0C-34B0-BBB3-848DBE99EEAE}"/>
              </a:ext>
            </a:extLst>
          </p:cNvPr>
          <p:cNvSpPr txBox="1"/>
          <p:nvPr/>
        </p:nvSpPr>
        <p:spPr>
          <a:xfrm>
            <a:off x="10164398" y="2200946"/>
            <a:ext cx="1886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r>
              <a:rPr lang="en-IN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IN" b="0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(Bengaluru + Locations)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2C6D53B0-35DF-8C1F-FA08-D02BA9929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75573" y="1549633"/>
            <a:ext cx="377574" cy="37757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5E8025A-6BF4-9794-72FC-5FE880125ECC}"/>
              </a:ext>
            </a:extLst>
          </p:cNvPr>
          <p:cNvSpPr txBox="1"/>
          <p:nvPr/>
        </p:nvSpPr>
        <p:spPr>
          <a:xfrm>
            <a:off x="6705754" y="2035589"/>
            <a:ext cx="1549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100" b="1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Team Size</a:t>
            </a:r>
            <a:endParaRPr lang="en-IN" sz="1100" b="0" i="0">
              <a:solidFill>
                <a:schemeClr val="bg1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AACB12-D587-5E0A-C9FB-A5598A733352}"/>
              </a:ext>
            </a:extLst>
          </p:cNvPr>
          <p:cNvSpPr txBox="1"/>
          <p:nvPr/>
        </p:nvSpPr>
        <p:spPr>
          <a:xfrm>
            <a:off x="8418851" y="2035589"/>
            <a:ext cx="1549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100" b="1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Revenue Mix</a:t>
            </a:r>
            <a:endParaRPr lang="en-IN" sz="1100" b="0" i="0">
              <a:solidFill>
                <a:schemeClr val="bg1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E474A9-1252-F9D1-92C0-3984DE777684}"/>
              </a:ext>
            </a:extLst>
          </p:cNvPr>
          <p:cNvSpPr txBox="1"/>
          <p:nvPr/>
        </p:nvSpPr>
        <p:spPr>
          <a:xfrm>
            <a:off x="10164399" y="2035589"/>
            <a:ext cx="1549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100" b="1" i="0">
                <a:solidFill>
                  <a:schemeClr val="bg1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New Offices</a:t>
            </a:r>
            <a:endParaRPr lang="en-IN" sz="1100" b="0" i="0">
              <a:solidFill>
                <a:schemeClr val="bg1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894447A2-0134-D83F-A913-BA059A730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6186" y="1532087"/>
            <a:ext cx="443028" cy="443028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5049F0E4-6F8A-E18F-E392-8A91939D5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4197" y="1587580"/>
            <a:ext cx="377573" cy="377573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236C6BC-02D1-B4E2-A2E5-D9A705EF89A1}"/>
              </a:ext>
            </a:extLst>
          </p:cNvPr>
          <p:cNvCxnSpPr>
            <a:cxnSpLocks/>
          </p:cNvCxnSpPr>
          <p:nvPr/>
        </p:nvCxnSpPr>
        <p:spPr>
          <a:xfrm>
            <a:off x="8133191" y="1587580"/>
            <a:ext cx="0" cy="1259697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162C9C-2AF2-5448-C68D-0D163C9B6D17}"/>
              </a:ext>
            </a:extLst>
          </p:cNvPr>
          <p:cNvCxnSpPr>
            <a:cxnSpLocks/>
          </p:cNvCxnSpPr>
          <p:nvPr/>
        </p:nvCxnSpPr>
        <p:spPr>
          <a:xfrm>
            <a:off x="9939283" y="1587580"/>
            <a:ext cx="0" cy="1259697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8AF48C1-EFA0-54BB-5B46-1226319319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5725" y="3573666"/>
            <a:ext cx="2897181" cy="2575272"/>
          </a:xfrm>
          <a:prstGeom prst="rect">
            <a:avLst/>
          </a:prstGeom>
        </p:spPr>
      </p:pic>
      <p:pic>
        <p:nvPicPr>
          <p:cNvPr id="8" name="Graphic 7" descr="Piggy Bank with solid fill">
            <a:extLst>
              <a:ext uri="{FF2B5EF4-FFF2-40B4-BE49-F238E27FC236}">
                <a16:creationId xmlns:a16="http://schemas.microsoft.com/office/drawing/2014/main" id="{F2F5A6F5-4D94-34DD-3A46-BD7FA9AAF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4491" y="5930159"/>
            <a:ext cx="696785" cy="6967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7A49F8-B77A-A2DD-4BCA-953260FC3141}"/>
              </a:ext>
            </a:extLst>
          </p:cNvPr>
          <p:cNvSpPr txBox="1"/>
          <p:nvPr/>
        </p:nvSpPr>
        <p:spPr>
          <a:xfrm>
            <a:off x="5001845" y="5870859"/>
            <a:ext cx="2541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Domain Focus</a:t>
            </a:r>
            <a:b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Rich Insurance expertise</a:t>
            </a:r>
            <a:b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IN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with pre-built use cases</a:t>
            </a:r>
          </a:p>
        </p:txBody>
      </p:sp>
    </p:spTree>
    <p:extLst>
      <p:ext uri="{BB962C8B-B14F-4D97-AF65-F5344CB8AC3E}">
        <p14:creationId xmlns:p14="http://schemas.microsoft.com/office/powerpoint/2010/main" val="408685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Inter</vt:lpstr>
      <vt:lpstr>Inter Semi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Mahajan</dc:creator>
  <cp:lastModifiedBy>Advait Mahajan</cp:lastModifiedBy>
  <cp:revision>1</cp:revision>
  <dcterms:created xsi:type="dcterms:W3CDTF">2026-06-16T13:08:38Z</dcterms:created>
  <dcterms:modified xsi:type="dcterms:W3CDTF">2026-06-16T13:09:05Z</dcterms:modified>
</cp:coreProperties>
</file>